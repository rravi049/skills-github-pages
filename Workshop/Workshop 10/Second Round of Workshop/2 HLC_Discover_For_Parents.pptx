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8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188720"/>
            <a:ext cx="822960" cy="777240"/>
          </a:xfrm>
          <a:prstGeom prst="star5">
            <a:avLst/>
          </a:prstGeom>
          <a:solidFill>
            <a:srgbClr val="F6C12B"/>
          </a:solidFill>
          <a:ln w="12700">
            <a:solidFill>
              <a:srgbClr val="E0A8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10312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HLC Discover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004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i="1" dirty="0">
                <a:solidFill>
                  <a:srgbClr val="E956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Safe. Cared for. Learning. And can’t wait to come back.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9319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early years of HLC International — LKG and UKG. Followed by Grade 1 at HLC: the first step into real school.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5120640"/>
            <a:ext cx="365760" cy="365760"/>
          </a:xfrm>
          <a:prstGeom prst="ellipse">
            <a:avLst/>
          </a:prstGeom>
          <a:solidFill>
            <a:srgbClr val="2F7FC1"/>
          </a:solidFill>
          <a:ln w="12700">
            <a:solidFill>
              <a:srgbClr val="2F7FC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51560" y="5120640"/>
            <a:ext cx="365760" cy="365760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554480" y="5120640"/>
            <a:ext cx="365760" cy="36576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57400" y="5120640"/>
            <a:ext cx="365760" cy="365760"/>
          </a:xfrm>
          <a:prstGeom prst="ellipse">
            <a:avLst/>
          </a:prstGeom>
          <a:solidFill>
            <a:srgbClr val="E9567B"/>
          </a:solidFill>
          <a:ln w="12700">
            <a:solidFill>
              <a:srgbClr val="E9567B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956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LKG AND UKG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3035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first time away from home.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1556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journeys happen at once — your child’s, yours, how they grow, and ours, alongside you.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240280" y="1536192"/>
            <a:ext cx="2274570" cy="411480"/>
          </a:xfrm>
          <a:prstGeom prst="chevron">
            <a:avLst/>
          </a:prstGeom>
          <a:solidFill>
            <a:srgbClr val="F6C12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468880" y="1609344"/>
            <a:ext cx="18173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home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606290" y="1536192"/>
            <a:ext cx="2274570" cy="411480"/>
          </a:xfrm>
          <a:prstGeom prst="chevron">
            <a:avLst/>
          </a:prstGeom>
          <a:solidFill>
            <a:srgbClr val="F39C1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34890" y="1609344"/>
            <a:ext cx="18173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days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972300" y="1536192"/>
            <a:ext cx="2274570" cy="411480"/>
          </a:xfrm>
          <a:prstGeom prst="chevron">
            <a:avLst/>
          </a:prstGeom>
          <a:solidFill>
            <a:srgbClr val="4CAF5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200900" y="1609344"/>
            <a:ext cx="18173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Settling in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9338310" y="1536192"/>
            <a:ext cx="2274570" cy="411480"/>
          </a:xfrm>
          <a:prstGeom prst="chevron">
            <a:avLst/>
          </a:prstGeom>
          <a:solidFill>
            <a:srgbClr val="2F7FC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566910" y="1609344"/>
            <a:ext cx="18173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Thriving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2057400"/>
            <a:ext cx="1600200" cy="777240"/>
          </a:xfrm>
          <a:prstGeom prst="roundRect">
            <a:avLst>
              <a:gd name="adj" fmla="val 14118"/>
            </a:avLst>
          </a:prstGeom>
          <a:solidFill>
            <a:srgbClr val="E9567B"/>
          </a:solidFill>
          <a:ln w="12700">
            <a:solidFill>
              <a:srgbClr val="E9567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" y="2189988"/>
            <a:ext cx="1417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child feels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2240280" y="2057400"/>
            <a:ext cx="2274570" cy="777240"/>
          </a:xfrm>
          <a:prstGeom prst="roundRect">
            <a:avLst>
              <a:gd name="adj" fmla="val 14118"/>
            </a:avLst>
          </a:prstGeom>
          <a:solidFill>
            <a:srgbClr val="FDECF1"/>
          </a:solidFill>
          <a:ln w="12700">
            <a:solidFill>
              <a:srgbClr val="FDECF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350008" y="2130552"/>
            <a:ext cx="205511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Safe. Amma or Appa always within reach.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606290" y="2057400"/>
            <a:ext cx="2274570" cy="777240"/>
          </a:xfrm>
          <a:prstGeom prst="roundRect">
            <a:avLst>
              <a:gd name="adj" fmla="val 14118"/>
            </a:avLst>
          </a:prstGeom>
          <a:solidFill>
            <a:srgbClr val="FDECF1"/>
          </a:solidFill>
          <a:ln w="12700">
            <a:solidFill>
              <a:srgbClr val="FDECF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716018" y="2130552"/>
            <a:ext cx="205511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room, new faces. “Where is Amma?” Tears are normal.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972300" y="2057400"/>
            <a:ext cx="2274570" cy="777240"/>
          </a:xfrm>
          <a:prstGeom prst="roundRect">
            <a:avLst>
              <a:gd name="adj" fmla="val 14118"/>
            </a:avLst>
          </a:prstGeom>
          <a:solidFill>
            <a:srgbClr val="FDECF1"/>
          </a:solidFill>
          <a:ln w="12700">
            <a:solidFill>
              <a:srgbClr val="FDECF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082028" y="2130552"/>
            <a:ext cx="205511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favourite teacher, a friend’s name, a place for my things.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9338310" y="2057400"/>
            <a:ext cx="2274570" cy="777240"/>
          </a:xfrm>
          <a:prstGeom prst="roundRect">
            <a:avLst>
              <a:gd name="adj" fmla="val 14118"/>
            </a:avLst>
          </a:prstGeom>
          <a:solidFill>
            <a:srgbClr val="FDECF1"/>
          </a:solidFill>
          <a:ln w="12700">
            <a:solidFill>
              <a:srgbClr val="FDECF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448038" y="2130552"/>
            <a:ext cx="205511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in each morning. “I did it myself!”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48640" y="2907792"/>
            <a:ext cx="1600200" cy="1024128"/>
          </a:xfrm>
          <a:prstGeom prst="roundRect">
            <a:avLst>
              <a:gd name="adj" fmla="val 10714"/>
            </a:avLst>
          </a:prstGeom>
          <a:solidFill>
            <a:srgbClr val="2F7FC1"/>
          </a:solidFill>
          <a:ln w="12700">
            <a:solidFill>
              <a:srgbClr val="2F7FC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0080" y="3163824"/>
            <a:ext cx="1417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feel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2240280" y="2907792"/>
            <a:ext cx="2274570" cy="1024128"/>
          </a:xfrm>
          <a:prstGeom prst="roundRect">
            <a:avLst>
              <a:gd name="adj" fmla="val 10714"/>
            </a:avLst>
          </a:prstGeom>
          <a:solidFill>
            <a:srgbClr val="EAF2FA"/>
          </a:solidFill>
          <a:ln w="12700">
            <a:solidFill>
              <a:srgbClr val="EAF2F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2350008" y="2980944"/>
            <a:ext cx="205511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know the moment she is hungry, thirsty or sleepy.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606290" y="2907792"/>
            <a:ext cx="2274570" cy="1024128"/>
          </a:xfrm>
          <a:prstGeom prst="roundRect">
            <a:avLst>
              <a:gd name="adj" fmla="val 10714"/>
            </a:avLst>
          </a:prstGeom>
          <a:solidFill>
            <a:srgbClr val="EAF2FA"/>
          </a:solidFill>
          <a:ln w="12700">
            <a:solidFill>
              <a:srgbClr val="EAF2FA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716018" y="2980944"/>
            <a:ext cx="205511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 anyone notice she’s hungry or tired? What if a child hurts her, or she hurts herself? She’s never been without me — I can’t bear her crying.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972300" y="2907792"/>
            <a:ext cx="2274570" cy="1024128"/>
          </a:xfrm>
          <a:prstGeom prst="roundRect">
            <a:avLst>
              <a:gd name="adj" fmla="val 10714"/>
            </a:avLst>
          </a:prstGeom>
          <a:solidFill>
            <a:srgbClr val="EAF2FA"/>
          </a:solidFill>
          <a:ln w="12700">
            <a:solidFill>
              <a:srgbClr val="EAF2FA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082028" y="2980944"/>
            <a:ext cx="205511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comes home tired but happy. I’m starting to breathe.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9338310" y="2907792"/>
            <a:ext cx="2274570" cy="1024128"/>
          </a:xfrm>
          <a:prstGeom prst="roundRect">
            <a:avLst>
              <a:gd name="adj" fmla="val 10714"/>
            </a:avLst>
          </a:prstGeom>
          <a:solidFill>
            <a:srgbClr val="EAF2FA"/>
          </a:solidFill>
          <a:ln w="12700">
            <a:solidFill>
              <a:srgbClr val="EAF2FA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9448038" y="2980944"/>
            <a:ext cx="205511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tells me about her day before I ask.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48640" y="4005072"/>
            <a:ext cx="1600200" cy="777240"/>
          </a:xfrm>
          <a:prstGeom prst="roundRect">
            <a:avLst>
              <a:gd name="adj" fmla="val 14118"/>
            </a:avLst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40080" y="4137660"/>
            <a:ext cx="1417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child grows</a:t>
            </a:r>
            <a:endParaRPr lang="en-US" sz="1350" dirty="0"/>
          </a:p>
        </p:txBody>
      </p:sp>
      <p:sp>
        <p:nvSpPr>
          <p:cNvPr id="35" name="Shape 33"/>
          <p:cNvSpPr/>
          <p:nvPr/>
        </p:nvSpPr>
        <p:spPr>
          <a:xfrm>
            <a:off x="2240280" y="4005072"/>
            <a:ext cx="2274570" cy="777240"/>
          </a:xfrm>
          <a:prstGeom prst="roundRect">
            <a:avLst>
              <a:gd name="adj" fmla="val 14118"/>
            </a:avLst>
          </a:prstGeom>
          <a:solidFill>
            <a:srgbClr val="EDF6EC"/>
          </a:solidFill>
          <a:ln w="12700">
            <a:solidFill>
              <a:srgbClr val="EDF6EC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2350008" y="4078224"/>
            <a:ext cx="205511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from you, brothers and sisters, family and friends.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606290" y="4005072"/>
            <a:ext cx="2274570" cy="777240"/>
          </a:xfrm>
          <a:prstGeom prst="roundRect">
            <a:avLst>
              <a:gd name="adj" fmla="val 14118"/>
            </a:avLst>
          </a:prstGeom>
          <a:solidFill>
            <a:srgbClr val="EDF6EC"/>
          </a:solidFill>
          <a:ln w="12700">
            <a:solidFill>
              <a:srgbClr val="EDF6EC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4716018" y="4078224"/>
            <a:ext cx="205511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that you leave — and always come back.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972300" y="4005072"/>
            <a:ext cx="2274570" cy="777240"/>
          </a:xfrm>
          <a:prstGeom prst="roundRect">
            <a:avLst>
              <a:gd name="adj" fmla="val 14118"/>
            </a:avLst>
          </a:prstGeom>
          <a:solidFill>
            <a:srgbClr val="EDF6EC"/>
          </a:solidFill>
          <a:ln w="12700">
            <a:solidFill>
              <a:srgbClr val="EDF6EC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7082028" y="4078224"/>
            <a:ext cx="205511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from other children, and from teachers who know how little ones learn.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9338310" y="4005072"/>
            <a:ext cx="2274570" cy="777240"/>
          </a:xfrm>
          <a:prstGeom prst="roundRect">
            <a:avLst>
              <a:gd name="adj" fmla="val 14118"/>
            </a:avLst>
          </a:prstGeom>
          <a:solidFill>
            <a:srgbClr val="EDF6EC"/>
          </a:solidFill>
          <a:ln w="12700">
            <a:solidFill>
              <a:srgbClr val="EDF6EC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9448038" y="4078224"/>
            <a:ext cx="205511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Creates, tries, and finds joy in small achievements.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548640" y="4855464"/>
            <a:ext cx="1600200" cy="960120"/>
          </a:xfrm>
          <a:prstGeom prst="roundRect">
            <a:avLst>
              <a:gd name="adj" fmla="val 11429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640080" y="5079492"/>
            <a:ext cx="1417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HLC Discover helps</a:t>
            </a:r>
            <a:endParaRPr lang="en-US" sz="1350" dirty="0"/>
          </a:p>
        </p:txBody>
      </p:sp>
      <p:sp>
        <p:nvSpPr>
          <p:cNvPr id="45" name="Shape 43"/>
          <p:cNvSpPr/>
          <p:nvPr/>
        </p:nvSpPr>
        <p:spPr>
          <a:xfrm>
            <a:off x="2240280" y="4855464"/>
            <a:ext cx="2274570" cy="960120"/>
          </a:xfrm>
          <a:prstGeom prst="roundRect">
            <a:avLst>
              <a:gd name="adj" fmla="val 11429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2350008" y="4928616"/>
            <a:ext cx="205511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day one, we learn your child’s routines, food and comforts.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4606290" y="4855464"/>
            <a:ext cx="2274570" cy="960120"/>
          </a:xfrm>
          <a:prstGeom prst="roundRect">
            <a:avLst>
              <a:gd name="adj" fmla="val 11429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4716018" y="4928616"/>
            <a:ext cx="205511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gentle settling-in fortnight. Two teachers and an aayah notice hunger, thirst, naps and tears. A photo to you that day.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6972300" y="4855464"/>
            <a:ext cx="2274570" cy="960120"/>
          </a:xfrm>
          <a:prstGeom prst="roundRect">
            <a:avLst>
              <a:gd name="adj" fmla="val 11429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7082028" y="4928616"/>
            <a:ext cx="205511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faces every day. CCTV in every room, a KG-only toilet always attended, play watched at all times.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9338310" y="4855464"/>
            <a:ext cx="2274570" cy="960120"/>
          </a:xfrm>
          <a:prstGeom prst="roundRect">
            <a:avLst>
              <a:gd name="adj" fmla="val 11429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9448038" y="4928616"/>
            <a:ext cx="205511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weekly note, a termly story of their growth — and a school that carries on to Grade 12.</a:t>
            </a:r>
            <a:endParaRPr lang="en-US" sz="1050" dirty="0"/>
          </a:p>
        </p:txBody>
      </p:sp>
      <p:sp>
        <p:nvSpPr>
          <p:cNvPr id="53" name="Text 51"/>
          <p:cNvSpPr txBox="1"/>
          <p:nvPr/>
        </p:nvSpPr>
        <p:spPr>
          <a:xfrm>
            <a:off x="548640" y="5934456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E956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Tears in the first weeks are normal — and we plan for them. What matters is where the journey ends: a child who can’t wait to come back.</a:t>
            </a:r>
            <a:endParaRPr lang="en-US" sz="1350" dirty="0"/>
          </a:p>
        </p:txBody>
      </p:sp>
      <p:sp>
        <p:nvSpPr>
          <p:cNvPr id="54" name="Text 52"/>
          <p:cNvSpPr txBox="1"/>
          <p:nvPr/>
        </p:nvSpPr>
        <p:spPr>
          <a:xfrm>
            <a:off x="548640" y="6446520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HLC Discover · the early years of HLC International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956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PROMISE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3035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promise rests on the one beneath it.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760720" y="1234440"/>
            <a:ext cx="640080" cy="594360"/>
          </a:xfrm>
          <a:prstGeom prst="star5">
            <a:avLst/>
          </a:prstGeom>
          <a:solidFill>
            <a:srgbClr val="F6C12B"/>
          </a:solidFill>
          <a:ln w="12700">
            <a:solidFill>
              <a:srgbClr val="E0A8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60520" y="1874520"/>
            <a:ext cx="3840480" cy="1005840"/>
          </a:xfrm>
          <a:prstGeom prst="roundRect">
            <a:avLst>
              <a:gd name="adj" fmla="val 10909"/>
            </a:avLst>
          </a:prstGeom>
          <a:solidFill>
            <a:srgbClr val="E9567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160520" y="2002536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LOVES LEARNING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4343400" y="244144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feels like play. Eager for tomorrow, full of stories tonight.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520440" y="2971800"/>
            <a:ext cx="5120640" cy="1005840"/>
          </a:xfrm>
          <a:prstGeom prst="roundRect">
            <a:avLst>
              <a:gd name="adj" fmla="val 10909"/>
            </a:avLst>
          </a:prstGeom>
          <a:solidFill>
            <a:srgbClr val="F39C1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20440" y="3099816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LEARNING, AS IT SHOULD BE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3703320" y="353872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Age-appropriate progress you can see.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2880360" y="4069080"/>
            <a:ext cx="6400800" cy="1005840"/>
          </a:xfrm>
          <a:prstGeom prst="roundRect">
            <a:avLst>
              <a:gd name="adj" fmla="val 10909"/>
            </a:avLst>
          </a:prstGeom>
          <a:solidFill>
            <a:srgbClr val="4CAF5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880360" y="4197096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CARED FOR, BODY AND HEART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3063240" y="4636008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Comfortable, settled, never upset alone.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240280" y="5166360"/>
            <a:ext cx="7680960" cy="1005840"/>
          </a:xfrm>
          <a:prstGeom prst="roundRect">
            <a:avLst>
              <a:gd name="adj" fmla="val 10909"/>
            </a:avLst>
          </a:prstGeom>
          <a:solidFill>
            <a:srgbClr val="2F7FC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240280" y="5294376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SAFE, ALWAYS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2423160" y="573328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matters more.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6446520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HLC Discover · the early years of HLC International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956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WILL SEE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3035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promises on paper. Things you can check.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2628900" cy="4846320"/>
          </a:xfrm>
          <a:prstGeom prst="roundRect">
            <a:avLst>
              <a:gd name="adj" fmla="val 4174"/>
            </a:avLst>
          </a:prstGeom>
          <a:solidFill>
            <a:srgbClr val="FFF8EC"/>
          </a:solidFill>
          <a:ln w="12700">
            <a:solidFill>
              <a:srgbClr val="2F7FC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2628900" cy="548640"/>
          </a:xfrm>
          <a:prstGeom prst="rect">
            <a:avLst/>
          </a:prstGeom>
          <a:solidFill>
            <a:srgbClr val="2F7FC1"/>
          </a:solidFill>
          <a:ln w="12700">
            <a:solidFill>
              <a:srgbClr val="2F7FC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481328"/>
            <a:ext cx="26289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103120"/>
            <a:ext cx="22631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CCTV in every class and common area — any moment reviewed with you on request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Background-verified staff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secure entrance; pick-up only by the adults you name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KG-only, child-height toilet, attended and cleaned every hour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360420" y="1371600"/>
            <a:ext cx="2628900" cy="4846320"/>
          </a:xfrm>
          <a:prstGeom prst="roundRect">
            <a:avLst>
              <a:gd name="adj" fmla="val 4174"/>
            </a:avLst>
          </a:prstGeom>
          <a:solidFill>
            <a:srgbClr val="FFF8EC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360420" y="1371600"/>
            <a:ext cx="2628900" cy="54864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360420" y="1481328"/>
            <a:ext cx="26289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CARED FOR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543300" y="2103120"/>
            <a:ext cx="22631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Circle of Three: two teachers and an aayah in every class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gentle settling-in fortnight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caring faces every day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bright, cheerful room built to your child’s height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172200" y="1371600"/>
            <a:ext cx="2628900" cy="4846320"/>
          </a:xfrm>
          <a:prstGeom prst="roundRect">
            <a:avLst>
              <a:gd name="adj" fmla="val 4174"/>
            </a:avLst>
          </a:prstGeom>
          <a:solidFill>
            <a:srgbClr val="FFF8EC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72200" y="1371600"/>
            <a:ext cx="2628900" cy="54864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172200" y="1481328"/>
            <a:ext cx="26289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355080" y="2103120"/>
            <a:ext cx="22631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photo or short video of your child, every day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weekly “What I did” note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written story of your child’s growth each term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Continuity all the way to Grade 12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983980" y="1371600"/>
            <a:ext cx="2628900" cy="4846320"/>
          </a:xfrm>
          <a:prstGeom prst="roundRect">
            <a:avLst>
              <a:gd name="adj" fmla="val 4174"/>
            </a:avLst>
          </a:prstGeom>
          <a:solidFill>
            <a:srgbClr val="FFF8EC"/>
          </a:solidFill>
          <a:ln w="12700">
            <a:solidFill>
              <a:srgbClr val="E9567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983980" y="1371600"/>
            <a:ext cx="2628900" cy="548640"/>
          </a:xfrm>
          <a:prstGeom prst="rect">
            <a:avLst/>
          </a:prstGeom>
          <a:solidFill>
            <a:srgbClr val="E9567B"/>
          </a:solidFill>
          <a:ln w="12700">
            <a:solidFill>
              <a:srgbClr val="E9567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983980" y="1481328"/>
            <a:ext cx="26289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LOVES LEARNING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9166860" y="2103120"/>
            <a:ext cx="22631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through play, songs and stories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Friendships in small groups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Habits that travel home: a screen-free play idea for your family each week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six weeks we ask you: does your child want to come to school?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6446520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HLC Discover · the early years of HLC International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956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HLC DISCOVER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3035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warm start — inside a school that goes all the way.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440680" cy="2148840"/>
          </a:xfrm>
          <a:prstGeom prst="roundRect">
            <a:avLst>
              <a:gd name="adj" fmla="val 5106"/>
            </a:avLst>
          </a:prstGeom>
          <a:solidFill>
            <a:srgbClr val="FFF8EC"/>
          </a:solidFill>
          <a:ln w="12700">
            <a:solidFill>
              <a:srgbClr val="2F7FC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691640"/>
            <a:ext cx="502920" cy="502920"/>
          </a:xfrm>
          <a:prstGeom prst="ellipse">
            <a:avLst/>
          </a:prstGeom>
          <a:solidFill>
            <a:srgbClr val="2F7FC1"/>
          </a:solidFill>
          <a:ln w="12700">
            <a:solidFill>
              <a:srgbClr val="2F7FC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508760" y="1691640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second admission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2286000"/>
            <a:ext cx="4160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early-years centres stop at UKG. Here, your child simply carries on, with the same philosophy, to Grade 12.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172200" y="1371600"/>
            <a:ext cx="5440680" cy="2148840"/>
          </a:xfrm>
          <a:prstGeom prst="roundRect">
            <a:avLst>
              <a:gd name="adj" fmla="val 5106"/>
            </a:avLst>
          </a:prstGeom>
          <a:solidFill>
            <a:srgbClr val="FFF8EC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46520" y="1691640"/>
            <a:ext cx="502920" cy="502920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132320" y="1691640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adults in every class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7132320" y="2286000"/>
            <a:ext cx="4160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teachers and an aayah — so every child is known, and no child is upset alone.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703320"/>
            <a:ext cx="5440680" cy="2148840"/>
          </a:xfrm>
          <a:prstGeom prst="roundRect">
            <a:avLst>
              <a:gd name="adj" fmla="val 5106"/>
            </a:avLst>
          </a:prstGeom>
          <a:solidFill>
            <a:srgbClr val="FFF8EC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" y="4023360"/>
            <a:ext cx="502920" cy="50292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508760" y="4023360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President’s Award winner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508760" y="4617720"/>
            <a:ext cx="4160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of our teachers is recognised at the highest level in the country.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172200" y="3703320"/>
            <a:ext cx="5440680" cy="2148840"/>
          </a:xfrm>
          <a:prstGeom prst="roundRect">
            <a:avLst>
              <a:gd name="adj" fmla="val 5106"/>
            </a:avLst>
          </a:prstGeom>
          <a:solidFill>
            <a:srgbClr val="FFF8EC"/>
          </a:solidFill>
          <a:ln w="12700">
            <a:solidFill>
              <a:srgbClr val="E9567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46520" y="4023360"/>
            <a:ext cx="502920" cy="502920"/>
          </a:xfrm>
          <a:prstGeom prst="ellipse">
            <a:avLst/>
          </a:prstGeom>
          <a:solidFill>
            <a:srgbClr val="E9567B"/>
          </a:solidFill>
          <a:ln w="12700">
            <a:solidFill>
              <a:srgbClr val="E9567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132320" y="4023360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Thirty years of one philosophy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7132320" y="4617720"/>
            <a:ext cx="4160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Children who are curious, confident and kind — not hurried.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608076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Fees, payment options (monthly, or over 3, 6 or 12 months), timings and the admission steps are in your LKG and UKG fact sheet.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1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3035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journeys meet at Grade 1.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1556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heart has been holding on. Your head is looking ahead. At Grade 1 they meet — and one school has to answer both.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2240280" y="1536192"/>
            <a:ext cx="2274570" cy="411480"/>
          </a:xfrm>
          <a:prstGeom prst="chevron">
            <a:avLst/>
          </a:prstGeom>
          <a:solidFill>
            <a:srgbClr val="F6C12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468880" y="1609344"/>
            <a:ext cx="18173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Until the end of UKG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606290" y="1536192"/>
            <a:ext cx="2274570" cy="411480"/>
          </a:xfrm>
          <a:prstGeom prst="chevron">
            <a:avLst/>
          </a:prstGeom>
          <a:solidFill>
            <a:srgbClr val="8E5BA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34890" y="1609344"/>
            <a:ext cx="18173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1 — they meet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972300" y="1536192"/>
            <a:ext cx="2274570" cy="411480"/>
          </a:xfrm>
          <a:prstGeom prst="chevron">
            <a:avLst/>
          </a:prstGeom>
          <a:solidFill>
            <a:srgbClr val="4CAF5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200900" y="1609344"/>
            <a:ext cx="18173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Grade 3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338310" y="1536192"/>
            <a:ext cx="2274570" cy="411480"/>
          </a:xfrm>
          <a:prstGeom prst="chevron">
            <a:avLst/>
          </a:prstGeom>
          <a:solidFill>
            <a:srgbClr val="2F7FC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566910" y="1609344"/>
            <a:ext cx="18173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10 to college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2057400"/>
            <a:ext cx="1600200" cy="868680"/>
          </a:xfrm>
          <a:prstGeom prst="roundRect">
            <a:avLst>
              <a:gd name="adj" fmla="val 12632"/>
            </a:avLst>
          </a:prstGeom>
          <a:solidFill>
            <a:srgbClr val="E9567B"/>
          </a:solidFill>
          <a:ln w="12700">
            <a:solidFill>
              <a:srgbClr val="E9567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" y="224028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heart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253288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holding on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2999232"/>
            <a:ext cx="1600200" cy="868680"/>
          </a:xfrm>
          <a:prstGeom prst="roundRect">
            <a:avLst>
              <a:gd name="adj" fmla="val 12632"/>
            </a:avLst>
          </a:prstGeom>
          <a:solidFill>
            <a:srgbClr val="2F7FC1"/>
          </a:solidFill>
          <a:ln w="12700">
            <a:solidFill>
              <a:srgbClr val="2F7FC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" y="318211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head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347472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looking ahead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240280" y="2057400"/>
            <a:ext cx="2274570" cy="868680"/>
          </a:xfrm>
          <a:prstGeom prst="roundRect">
            <a:avLst>
              <a:gd name="adj" fmla="val 12632"/>
            </a:avLst>
          </a:prstGeom>
          <a:solidFill>
            <a:srgbClr val="FDECF1"/>
          </a:solidFill>
          <a:ln w="12700">
            <a:solidFill>
              <a:srgbClr val="FDECF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350008" y="2148840"/>
            <a:ext cx="195453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KG felt like a second home. Is she ready to step further away from you?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240280" y="2999232"/>
            <a:ext cx="2274570" cy="868680"/>
          </a:xfrm>
          <a:prstGeom prst="roundRect">
            <a:avLst>
              <a:gd name="adj" fmla="val 12632"/>
            </a:avLst>
          </a:prstGeom>
          <a:solidFill>
            <a:srgbClr val="EAF2FA"/>
          </a:solidFill>
          <a:ln w="12700">
            <a:solidFill>
              <a:srgbClr val="EAF2F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2350008" y="3090672"/>
            <a:ext cx="195453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world she will grow into rewards different things. Which school should carry her for twelve years?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313682" y="2345436"/>
            <a:ext cx="384048" cy="292608"/>
          </a:xfrm>
          <a:prstGeom prst="rightArrow">
            <a:avLst/>
          </a:prstGeom>
          <a:solidFill>
            <a:srgbClr val="E9567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313682" y="3287268"/>
            <a:ext cx="384048" cy="292608"/>
          </a:xfrm>
          <a:prstGeom prst="rightArrow">
            <a:avLst/>
          </a:prstGeom>
          <a:solidFill>
            <a:srgbClr val="2F7FC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06290" y="2057400"/>
            <a:ext cx="2274570" cy="1810512"/>
          </a:xfrm>
          <a:prstGeom prst="roundRect">
            <a:avLst>
              <a:gd name="adj" fmla="val 6061"/>
            </a:avLst>
          </a:prstGeom>
          <a:solidFill>
            <a:srgbClr val="F1E8F7"/>
          </a:solidFill>
          <a:ln w="12700">
            <a:solidFill>
              <a:srgbClr val="8E5BA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743450" y="2221992"/>
            <a:ext cx="200025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8E5B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two journeys meet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4743450" y="2651760"/>
            <a:ext cx="2000250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“Will she still be held — and will she be ready?” You need one school that does both.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972300" y="2057400"/>
            <a:ext cx="2274570" cy="1810512"/>
          </a:xfrm>
          <a:prstGeom prst="roundRect">
            <a:avLst>
              <a:gd name="adj" fmla="val 6061"/>
            </a:avLst>
          </a:prstGeom>
          <a:solidFill>
            <a:srgbClr val="F1E8F7"/>
          </a:solidFill>
          <a:ln w="12700">
            <a:solidFill>
              <a:srgbClr val="8E5BA8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109460" y="2221992"/>
            <a:ext cx="200025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8E5B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journey, together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7109460" y="2651760"/>
            <a:ext cx="2000250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known by name, and happier than you hoped. She reads for pleasure, speaks up, and knows what she loves.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9338310" y="2057400"/>
            <a:ext cx="2274570" cy="1810512"/>
          </a:xfrm>
          <a:prstGeom prst="roundRect">
            <a:avLst>
              <a:gd name="adj" fmla="val 6061"/>
            </a:avLst>
          </a:prstGeom>
          <a:solidFill>
            <a:srgbClr val="F1E8F7"/>
          </a:solidFill>
          <a:ln w="12700">
            <a:solidFill>
              <a:srgbClr val="8E5BA8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9475470" y="2221992"/>
            <a:ext cx="200025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8E5B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did the years go?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9475470" y="2651760"/>
            <a:ext cx="2000250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subjects, her strengths, her choice — and she is ready. So are you.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48640" y="3941064"/>
            <a:ext cx="1600200" cy="777240"/>
          </a:xfrm>
          <a:prstGeom prst="roundRect">
            <a:avLst>
              <a:gd name="adj" fmla="val 14118"/>
            </a:avLst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40080" y="4073652"/>
            <a:ext cx="1417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child grows</a:t>
            </a:r>
            <a:endParaRPr lang="en-US" sz="1350" dirty="0"/>
          </a:p>
        </p:txBody>
      </p:sp>
      <p:sp>
        <p:nvSpPr>
          <p:cNvPr id="36" name="Shape 34"/>
          <p:cNvSpPr/>
          <p:nvPr/>
        </p:nvSpPr>
        <p:spPr>
          <a:xfrm>
            <a:off x="2240280" y="3941064"/>
            <a:ext cx="2274570" cy="777240"/>
          </a:xfrm>
          <a:prstGeom prst="roundRect">
            <a:avLst>
              <a:gd name="adj" fmla="val 14118"/>
            </a:avLst>
          </a:prstGeom>
          <a:solidFill>
            <a:srgbClr val="EDF6EC"/>
          </a:solidFill>
          <a:ln w="12700">
            <a:solidFill>
              <a:srgbClr val="EDF6EC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2350008" y="4014216"/>
            <a:ext cx="205511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Plays, explores, begins to read and count.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4606290" y="3941064"/>
            <a:ext cx="2274570" cy="777240"/>
          </a:xfrm>
          <a:prstGeom prst="roundRect">
            <a:avLst>
              <a:gd name="adj" fmla="val 14118"/>
            </a:avLst>
          </a:prstGeom>
          <a:solidFill>
            <a:srgbClr val="EDF6EC"/>
          </a:solidFill>
          <a:ln w="12700">
            <a:solidFill>
              <a:srgbClr val="EDF6EC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4716018" y="4014216"/>
            <a:ext cx="205511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the rhythm of real school, with the same warmth.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6972300" y="3941064"/>
            <a:ext cx="2274570" cy="777240"/>
          </a:xfrm>
          <a:prstGeom prst="roundRect">
            <a:avLst>
              <a:gd name="adj" fmla="val 14118"/>
            </a:avLst>
          </a:prstGeom>
          <a:solidFill>
            <a:srgbClr val="EDF6EC"/>
          </a:solidFill>
          <a:ln w="12700">
            <a:solidFill>
              <a:srgbClr val="EDF6EC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7082028" y="4014216"/>
            <a:ext cx="205511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Presents her own work to you.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9338310" y="3941064"/>
            <a:ext cx="2274570" cy="777240"/>
          </a:xfrm>
          <a:prstGeom prst="roundRect">
            <a:avLst>
              <a:gd name="adj" fmla="val 14118"/>
            </a:avLst>
          </a:prstGeom>
          <a:solidFill>
            <a:srgbClr val="EDF6EC"/>
          </a:solidFill>
          <a:ln w="12700">
            <a:solidFill>
              <a:srgbClr val="EDF6EC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9448038" y="4014216"/>
            <a:ext cx="205511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Chooses her own path.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548640" y="4791456"/>
            <a:ext cx="1600200" cy="914400"/>
          </a:xfrm>
          <a:prstGeom prst="roundRect">
            <a:avLst>
              <a:gd name="adj" fmla="val 12000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640080" y="4992624"/>
            <a:ext cx="1417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HLC helps</a:t>
            </a:r>
            <a:endParaRPr lang="en-US" sz="1350" dirty="0"/>
          </a:p>
        </p:txBody>
      </p:sp>
      <p:sp>
        <p:nvSpPr>
          <p:cNvPr id="46" name="Shape 44"/>
          <p:cNvSpPr/>
          <p:nvPr/>
        </p:nvSpPr>
        <p:spPr>
          <a:xfrm>
            <a:off x="2240280" y="4791456"/>
            <a:ext cx="2274570" cy="914400"/>
          </a:xfrm>
          <a:prstGeom prst="roundRect">
            <a:avLst>
              <a:gd name="adj" fmla="val 12000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2350008" y="4864608"/>
            <a:ext cx="205511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for Real School: a free session in a real Grade 1 class.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4606290" y="4791456"/>
            <a:ext cx="2274570" cy="914400"/>
          </a:xfrm>
          <a:prstGeom prst="roundRect">
            <a:avLst>
              <a:gd name="adj" fmla="val 12000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4716018" y="4864608"/>
            <a:ext cx="205511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groups and adults who know her by name — with all the warmth of KG.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6972300" y="4791456"/>
            <a:ext cx="2274570" cy="914400"/>
          </a:xfrm>
          <a:prstGeom prst="roundRect">
            <a:avLst>
              <a:gd name="adj" fmla="val 12000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7082028" y="4864608"/>
            <a:ext cx="205511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written story of her growth every term: the difference you can see.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9338310" y="4791456"/>
            <a:ext cx="2274570" cy="914400"/>
          </a:xfrm>
          <a:prstGeom prst="roundRect">
            <a:avLst>
              <a:gd name="adj" fmla="val 12000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9448038" y="4864608"/>
            <a:ext cx="205511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school all the way — no need to change schools again.</a:t>
            </a:r>
            <a:endParaRPr lang="en-US" sz="1050" dirty="0"/>
          </a:p>
        </p:txBody>
      </p:sp>
      <p:sp>
        <p:nvSpPr>
          <p:cNvPr id="54" name="Text 52"/>
          <p:cNvSpPr txBox="1"/>
          <p:nvPr/>
        </p:nvSpPr>
        <p:spPr>
          <a:xfrm>
            <a:off x="548640" y="58247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F39C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don’t have to choose between holding on and letting go. College is twelve years away — and every parent says it comes too soon.</a:t>
            </a:r>
            <a:endParaRPr lang="en-US" sz="1350" dirty="0"/>
          </a:p>
        </p:txBody>
      </p:sp>
      <p:sp>
        <p:nvSpPr>
          <p:cNvPr id="55" name="Text 53"/>
          <p:cNvSpPr txBox="1"/>
          <p:nvPr/>
        </p:nvSpPr>
        <p:spPr>
          <a:xfrm>
            <a:off x="548640" y="6446520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HLC International · Grade 1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1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3035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first step into real school — and the last admission you’ll need.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94960" cy="4389120"/>
          </a:xfrm>
          <a:prstGeom prst="roundRect">
            <a:avLst>
              <a:gd name="adj" fmla="val 2500"/>
            </a:avLst>
          </a:prstGeom>
          <a:solidFill>
            <a:srgbClr val="FFF8EC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6459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39C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changes in Grade 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148840"/>
            <a:ext cx="47548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school begins — with all the warmth of KG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Academics with no compromise, built around what your child enjoys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Confidence, voice and responsibility, a little more each year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groups, where every child is known by name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17920" y="1463040"/>
            <a:ext cx="5394960" cy="4389120"/>
          </a:xfrm>
          <a:prstGeom prst="roundRect">
            <a:avLst>
              <a:gd name="adj" fmla="val 2500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37960" y="164592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Ready for Real School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6537960" y="2240280"/>
            <a:ext cx="47548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free session for any UKG child. 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D6E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child joins a real Grade 1 class for an hour while you watch. Weekdays, 3:30 to 5 pm.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us for the one-page checklist: 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D6E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“Is my child ready for Grade 1?”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Fees, age cut-off and admission steps: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D6E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your Grade 1 fact sheet.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446520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HLC International · Grade 1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1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3035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the first step matters more than ever.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383280" cy="4526280"/>
          </a:xfrm>
          <a:prstGeom prst="roundRect">
            <a:avLst>
              <a:gd name="adj" fmla="val 3243"/>
            </a:avLst>
          </a:prstGeom>
          <a:solidFill>
            <a:srgbClr val="FFF8EC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55448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39C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world has changed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103120"/>
            <a:ext cx="28346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 </a:t>
            </a:r>
            <a:pPr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arrive before school does, so attention and patience have to be built on purpose.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 </a:t>
            </a:r>
            <a:pPr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reading and number, laid in the first years, carry everything after.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future </a:t>
            </a:r>
            <a:pPr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rewards what a child can do with knowledge — not just what they remember.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4206240" y="1371600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GRADE 1 BUILDS — AND WHAT YOU WILL SEE BY GRADE 3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06240" y="1737360"/>
            <a:ext cx="7406640" cy="1234440"/>
          </a:xfrm>
          <a:prstGeom prst="roundRect">
            <a:avLst>
              <a:gd name="adj" fmla="val 8889"/>
            </a:avLst>
          </a:prstGeom>
          <a:solidFill>
            <a:srgbClr val="FFF8EC"/>
          </a:solidFill>
          <a:ln w="12700">
            <a:solidFill>
              <a:srgbClr val="2F7FC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34840" y="2084832"/>
            <a:ext cx="502920" cy="502920"/>
          </a:xfrm>
          <a:prstGeom prst="ellipse">
            <a:avLst/>
          </a:prstGeom>
          <a:solidFill>
            <a:srgbClr val="2F7FC1"/>
          </a:solidFill>
          <a:ln w="12700">
            <a:solidFill>
              <a:srgbClr val="2F7FC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120640" y="190195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Academics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5120640" y="2304288"/>
            <a:ext cx="6217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with understanding and for pleasure; understands numbers, not just recites them.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206240" y="3108960"/>
            <a:ext cx="7406640" cy="1234440"/>
          </a:xfrm>
          <a:prstGeom prst="roundRect">
            <a:avLst>
              <a:gd name="adj" fmla="val 8889"/>
            </a:avLst>
          </a:prstGeom>
          <a:solidFill>
            <a:srgbClr val="FFF8EC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434840" y="3456432"/>
            <a:ext cx="502920" cy="502920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120640" y="327355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Personality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5120640" y="3675888"/>
            <a:ext cx="6217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Speaks up, presents their own work to you, and recovers when something goes wrong.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4206240" y="4480560"/>
            <a:ext cx="7406640" cy="1234440"/>
          </a:xfrm>
          <a:prstGeom prst="roundRect">
            <a:avLst>
              <a:gd name="adj" fmla="val 8889"/>
            </a:avLst>
          </a:prstGeom>
          <a:solidFill>
            <a:srgbClr val="FFF8EC"/>
          </a:solidFill>
          <a:ln w="12700">
            <a:solidFill>
              <a:srgbClr val="E9567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434840" y="4828032"/>
            <a:ext cx="502920" cy="502920"/>
          </a:xfrm>
          <a:prstGeom prst="ellipse">
            <a:avLst/>
          </a:prstGeom>
          <a:solidFill>
            <a:srgbClr val="E9567B"/>
          </a:solidFill>
          <a:ln w="12700">
            <a:solidFill>
              <a:srgbClr val="E9567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120640" y="464515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Interests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5120640" y="5047488"/>
            <a:ext cx="6217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tried farming, music, art, sport and making — and you can name what lights them up.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4206240" y="5897880"/>
            <a:ext cx="7406640" cy="9144"/>
          </a:xfrm>
          <a:prstGeom prst="roundRect">
            <a:avLst>
              <a:gd name="adj" fmla="val 120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8640" y="59893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F39C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won’t wait twelve years to know you chose well. By Grade 3, you will — and your child simply carries on to Grade 12.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8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22960"/>
            <a:ext cx="731520" cy="685800"/>
          </a:xfrm>
          <a:prstGeom prst="star5">
            <a:avLst/>
          </a:prstGeom>
          <a:solidFill>
            <a:srgbClr val="F6C12B"/>
          </a:solidFill>
          <a:ln w="12700">
            <a:solidFill>
              <a:srgbClr val="E0A8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6459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Begin with Vidyarambham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5146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i="1" dirty="0">
                <a:solidFill>
                  <a:srgbClr val="E956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Vijayadasami, Tuesday 20 October — at HLC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3291840"/>
            <a:ext cx="262890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2F7FC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3474720"/>
            <a:ext cx="21717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F7FC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Vidyarambham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4023360"/>
            <a:ext cx="21717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children aged 3 to 6, with a First Words session for every family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360420" y="3291840"/>
            <a:ext cx="262890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89020" y="3474720"/>
            <a:ext cx="21717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4CAF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Golu and children’s events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3589020" y="4023360"/>
            <a:ext cx="21717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slots through the morning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172200" y="3291840"/>
            <a:ext cx="262890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0" y="3474720"/>
            <a:ext cx="21717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39C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 classrooms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0" y="4023360"/>
            <a:ext cx="21717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HLC Discover and Grade 1 for yourself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983980" y="3291840"/>
            <a:ext cx="262890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9567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212580" y="3474720"/>
            <a:ext cx="21717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956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early-bird welcome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9212580" y="4023360"/>
            <a:ext cx="21717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 off the admission fee when you confirm by 20 October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56692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steps: a visit, a stay-and-play morning, then apply.   Register: [website]  ·  [phone]  ·  HLC International, Karanai, OMR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61264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roads have changed. Raise them to find their own way.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HLC Discover</dc:title>
  <dc:subject>PptxGenJS Presentation</dc:subject>
  <dc:creator>PptxGenJS</dc:creator>
  <cp:lastModifiedBy>PptxGenJS</cp:lastModifiedBy>
  <cp:revision>1</cp:revision>
  <dcterms:created xsi:type="dcterms:W3CDTF">2026-09-30T02:36:30Z</dcterms:created>
  <dcterms:modified xsi:type="dcterms:W3CDTF">2026-09-30T02:36:30Z</dcterms:modified>
</cp:coreProperties>
</file>