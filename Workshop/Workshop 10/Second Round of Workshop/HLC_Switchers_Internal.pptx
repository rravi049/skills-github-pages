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2C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SWITCHERS  ·  INTERNAL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Families already changing school are our warmest leads in every grade.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campaign, same places, same dates — one extra lane, capped so KG and Grade 1 stay the priority.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11880" cy="1463040"/>
          </a:xfrm>
          <a:prstGeom prst="roundRect">
            <a:avLst>
              <a:gd name="adj" fmla="val 3750"/>
            </a:avLst>
          </a:prstGeom>
          <a:solidFill>
            <a:srgbClr val="EDE7F6"/>
          </a:solidFill>
          <a:ln w="12700">
            <a:solidFill>
              <a:srgbClr val="D1C4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81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B2C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intent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0195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have already decided to move. We only need to be the answer.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1371600"/>
            <a:ext cx="3611880" cy="1463040"/>
          </a:xfrm>
          <a:prstGeom prst="roundRect">
            <a:avLst>
              <a:gd name="adj" fmla="val 3750"/>
            </a:avLst>
          </a:prstGeom>
          <a:solidFill>
            <a:srgbClr val="EDE7F6"/>
          </a:solidFill>
          <a:ln w="12700">
            <a:solidFill>
              <a:srgbClr val="D1C4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0560" y="1481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B2C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Fits our vacancies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190195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5–9: 15 seats. Replacements: 15. Grade 11: 31.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371600"/>
            <a:ext cx="3611880" cy="1463040"/>
          </a:xfrm>
          <a:prstGeom prst="roundRect">
            <a:avLst>
              <a:gd name="adj" fmla="val 3750"/>
            </a:avLst>
          </a:prstGeom>
          <a:solidFill>
            <a:srgbClr val="EDE7F6"/>
          </a:solidFill>
          <a:ln w="12700">
            <a:solidFill>
              <a:srgbClr val="D1C4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5320" y="1481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B2C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Almost no extra cost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190195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card, one website line, one desk on 20 October, ads inside the existing budget.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11247120" cy="1371600"/>
          </a:xfrm>
          <a:prstGeom prst="roundRect">
            <a:avLst>
              <a:gd name="adj" fmla="val 4000"/>
            </a:avLst>
          </a:prstGeom>
          <a:solidFill>
            <a:srgbClr val="FFF4E5"/>
          </a:solidFill>
          <a:ln w="12700">
            <a:solidFill>
              <a:srgbClr val="E8C99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1546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REALISTIC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4290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switchers will join in June 2027. Count them as pipeline: target 40 leads and about 5 confirmed now — mainly relocations and families where a child is genuinely unhappy. These are on top of the 30 KG and Grade 1 seats, never instead of them.</a:t>
            </a:r>
            <a:endParaRPr lang="en-US" sz="12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61772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69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owns what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8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Niharika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message, the website line, the ads — no more than a few hours a week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 Connect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Same-day triage of every switcher enquiry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coordinators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Transition conversations, two a day; the desk on 20 October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2C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FAMILIES SWITCH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reasons — and our answer to each.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for the reason first, then answer the need.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29184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parent says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answer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show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8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Too much pressure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“She dreads school. It’s all marks and tuition.”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Rigour without fear: no marks announced or compared, no punishments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class in action; a notebook with teacher feedback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Not known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“Thirty-five in a class. Nobody notices him.”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groups; two facilitators through Grade 7; the learner support process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class list size; meet the class teacher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School ends or lacks the subjects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“The school stops at Class 5, or 8, or has no stream she wants.”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school to Grade 12; eleven subjects tried in Grade 8; a wide AS choice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subject-choice process; the pathway map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 Relocation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“We’ve just moved to OMR — and may move abroad again.”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Cambridge is recognised worldwide; a mid-year settling plan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our alumni study; a buddy for the first weeks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 A difficult 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“He isn’t fitting in.” or “She needs more support.”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Inclusion from day one; the PEACE framework; a named adult who checks 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a conflict is handled here; meet Learner Connect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715000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F9F0F0"/>
          </a:solidFill>
          <a:ln w="12700">
            <a:solidFill>
              <a:srgbClr val="E3C9C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58064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GUARDRAILS   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Bullying or a safeguarding worry: bring in a founder or Learner Connect the same day.   2  Never criticise their current school, promise transport, or say a mid-year board switch is easy.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2C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MESSAGE PER STAGE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groups with shared needs — one answer each.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switchers are covered by the main campaign. Grade 1 switchers get both: the Grade 1 campaign and this page.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017520"/>
                <a:gridCol w="320040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· Grades 1–5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 · Grades 6–9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11 · lateral entry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8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common reasons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Pressure; not known; relocation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Losing interest; peer difficulty; school ends at 5 or 8; wanting Cambridge before the board years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 not offered; the coaching treadmill; plans to study abroad; unhappy after term 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 (their stage page)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rule has changed — and it starts early.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rule has changed — and so has your child.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rule has changed. Two years to the gate.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offer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facilitators; no comparison; learning by doing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Trusted independence; real work to lead; eleven subjects before choosing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subjects they choose; pathway counselling; honest guidance on JEE and NEET, where coaching alongside is usually needed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Easing the move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trial day; a buddy; a settling plan — and the difference visible within the first year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shadow day; a peer who joined recently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subject-fit conversation; a talk with a student who joined at Grade 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with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“What would make her happy to go to school again?”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“What has changed at home in the last year?”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“Six years from now, what would a good outcome look like?”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2C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THEM IN THE SAME CAMPAIGN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new channels — one line added to each.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marked purple in the Execution Calendar; answer card in the Orientation pack.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7315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Touchpoint already planned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add for switchers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8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Website and Google listing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“Changing schools? Talk to us — any grade.”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clips from families and alumni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clip a week for older grades: “The rule has changed — and so has your child.”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posters and ambassadors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small line: “Also welcoming families changing schools in Grades 2–9 and 11.”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ads within 5 km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“Change school OMR”, “Cambridge school near me” — inside the existing budget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Vijayadasami open morning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classrooms for Grades 2–9 and 11, and a “Changing schools?” desk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conversation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 over the grade fact sheet and the Changing Schools FAQ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scorecard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purple columns: switcher leads and confirmations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7150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2C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a parent through the deck: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their reason (page 2), turn to their child’s stage page (4, 5 or 6), close on the alumni proof (7), then book the day in class (8). Hand over the fact sheet.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2026-09-29T17:23:30Z</dcterms:created>
  <dcterms:modified xsi:type="dcterms:W3CDTF">2026-09-29T17:23:30Z</dcterms:modified>
</cp:coreProperties>
</file>