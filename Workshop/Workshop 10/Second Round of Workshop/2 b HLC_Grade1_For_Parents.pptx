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822960" cy="77724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1 at HLC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step into real school — and the last admission you’ll need.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International, Karanai — where the warmth of KG carries on all the way to college.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365760" cy="36576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5120640"/>
            <a:ext cx="365760" cy="3657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5120640"/>
            <a:ext cx="365760" cy="36576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5120640"/>
            <a:ext cx="365760" cy="36576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journeys meet at Grade 1.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heart has been holding on. Your head is looking ahead. At Grade 1 they meet — and one school has to answer both.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240280" y="1536192"/>
            <a:ext cx="2274570" cy="411480"/>
          </a:xfrm>
          <a:prstGeom prst="chevron">
            <a:avLst/>
          </a:prstGeom>
          <a:solidFill>
            <a:srgbClr val="F6C1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68880" y="1609344"/>
            <a:ext cx="1817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end of UKG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06290" y="1536192"/>
            <a:ext cx="2274570" cy="411480"/>
          </a:xfrm>
          <a:prstGeom prst="chevron">
            <a:avLst/>
          </a:prstGeom>
          <a:solidFill>
            <a:srgbClr val="8E5B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34890" y="1609344"/>
            <a:ext cx="1817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 — they meet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72300" y="1536192"/>
            <a:ext cx="2274570" cy="411480"/>
          </a:xfrm>
          <a:prstGeom prst="chevron">
            <a:avLst/>
          </a:prstGeom>
          <a:solidFill>
            <a:srgbClr val="4CA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00900" y="1609344"/>
            <a:ext cx="1817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Grade 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38310" y="1536192"/>
            <a:ext cx="2274570" cy="411480"/>
          </a:xfrm>
          <a:prstGeom prst="chevron">
            <a:avLst/>
          </a:prstGeom>
          <a:solidFill>
            <a:srgbClr val="2F7F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66910" y="1609344"/>
            <a:ext cx="1817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10 to college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1600200" cy="868680"/>
          </a:xfrm>
          <a:prstGeom prst="roundRect">
            <a:avLst>
              <a:gd name="adj" fmla="val 12632"/>
            </a:avLst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heart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5328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1600200" cy="868680"/>
          </a:xfrm>
          <a:prstGeom prst="roundRect">
            <a:avLst>
              <a:gd name="adj" fmla="val 12632"/>
            </a:avLst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head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40280" y="2057400"/>
            <a:ext cx="2274570" cy="868680"/>
          </a:xfrm>
          <a:prstGeom prst="roundRect">
            <a:avLst>
              <a:gd name="adj" fmla="val 12632"/>
            </a:avLst>
          </a:prstGeom>
          <a:solidFill>
            <a:srgbClr val="FDECF1"/>
          </a:solidFill>
          <a:ln w="12700">
            <a:solidFill>
              <a:srgbClr val="FDEC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50008" y="2148840"/>
            <a:ext cx="19545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felt like a second home. Is she ready to step further away from you?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40280" y="2999232"/>
            <a:ext cx="2274570" cy="868680"/>
          </a:xfrm>
          <a:prstGeom prst="roundRect">
            <a:avLst>
              <a:gd name="adj" fmla="val 12632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50008" y="3090672"/>
            <a:ext cx="19545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she will grow into rewards different things. Which school should carry her for twelve years?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13682" y="2345436"/>
            <a:ext cx="384048" cy="292608"/>
          </a:xfrm>
          <a:prstGeom prst="rightArrow">
            <a:avLst/>
          </a:prstGeom>
          <a:solidFill>
            <a:srgbClr val="E956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3682" y="3287268"/>
            <a:ext cx="384048" cy="292608"/>
          </a:xfrm>
          <a:prstGeom prst="rightArrow">
            <a:avLst/>
          </a:prstGeom>
          <a:solidFill>
            <a:srgbClr val="2F7F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06290" y="2057400"/>
            <a:ext cx="2274570" cy="1810512"/>
          </a:xfrm>
          <a:prstGeom prst="roundRect">
            <a:avLst>
              <a:gd name="adj" fmla="val 6061"/>
            </a:avLst>
          </a:prstGeom>
          <a:solidFill>
            <a:srgbClr val="F1E8F7"/>
          </a:solidFill>
          <a:ln w="12700">
            <a:solidFill>
              <a:srgbClr val="8E5B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43450" y="2221992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E5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journeys meet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743450" y="2651760"/>
            <a:ext cx="200025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“Will she still be held — and will she be ready?” You need one school that does both.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72300" y="2057400"/>
            <a:ext cx="2274570" cy="1810512"/>
          </a:xfrm>
          <a:prstGeom prst="roundRect">
            <a:avLst>
              <a:gd name="adj" fmla="val 6061"/>
            </a:avLst>
          </a:prstGeom>
          <a:solidFill>
            <a:srgbClr val="F1E8F7"/>
          </a:solidFill>
          <a:ln w="12700">
            <a:solidFill>
              <a:srgbClr val="8E5B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09460" y="2221992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E5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journey, together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09460" y="2651760"/>
            <a:ext cx="200025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known by name, and happier than you hoped. She reads for pleasure, speaks up, and knows what she loves.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338310" y="2057400"/>
            <a:ext cx="2274570" cy="1810512"/>
          </a:xfrm>
          <a:prstGeom prst="roundRect">
            <a:avLst>
              <a:gd name="adj" fmla="val 6061"/>
            </a:avLst>
          </a:prstGeom>
          <a:solidFill>
            <a:srgbClr val="F1E8F7"/>
          </a:solidFill>
          <a:ln w="12700">
            <a:solidFill>
              <a:srgbClr val="8E5B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475470" y="2221992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E5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did the years go?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475470" y="2651760"/>
            <a:ext cx="200025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subjects, her strengths, her choice — and she is ready. So are you.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941064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407365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child grows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2240280" y="3941064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EDF6EC"/>
          </a:solidFill>
          <a:ln w="12700">
            <a:solidFill>
              <a:srgbClr val="EDF6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350008" y="4014216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Plays, explores, begins to read and count.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06290" y="3941064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EDF6EC"/>
          </a:solidFill>
          <a:ln w="12700">
            <a:solidFill>
              <a:srgbClr val="EDF6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16018" y="4014216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rhythm of real school, with the same warmth.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972300" y="3941064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EDF6EC"/>
          </a:solidFill>
          <a:ln w="12700">
            <a:solidFill>
              <a:srgbClr val="EDF6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82028" y="4014216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her own work to you.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338310" y="3941064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EDF6EC"/>
          </a:solidFill>
          <a:ln w="12700">
            <a:solidFill>
              <a:srgbClr val="EDF6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448038" y="4014216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her own path.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4791456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" y="499262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HLC helps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2240280" y="4791456"/>
            <a:ext cx="2274570" cy="914400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350008" y="4864608"/>
            <a:ext cx="205511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Real School: a free session in a real Grade 1 class.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06290" y="4791456"/>
            <a:ext cx="2274570" cy="914400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716018" y="4864608"/>
            <a:ext cx="205511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and adults who know her by name — with all the warmth of KG.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972300" y="4791456"/>
            <a:ext cx="2274570" cy="914400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082028" y="4864608"/>
            <a:ext cx="205511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story of her growth every term: the difference you can see.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338310" y="4791456"/>
            <a:ext cx="2274570" cy="914400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448038" y="4864608"/>
            <a:ext cx="205511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school all the way — no need to change schools again.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58247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don’t have to choose between holding on and letting go. College is twelve years away — and every parent says it comes too soon.</a:t>
            </a:r>
            <a:endParaRPr lang="en-US" sz="1350" dirty="0"/>
          </a:p>
        </p:txBody>
      </p:sp>
      <p:sp>
        <p:nvSpPr>
          <p:cNvPr id="55" name="Text 5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Grade 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step into real school — and the last admission you’ll need.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FF8E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in Grade 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school begins — with all the warmth of KG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 with no compromise, built around what your child enjoys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Confidence, voice and responsibility, a little more each year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groups, where every child is known by name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45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Real School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402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session for any UKG child.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child joins a real Grade 1 class for an hour while you watch. Weekdays, 3:30 to 5 pm.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us for the one-page checklist: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my child ready for Grade 1?”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Fees, age cut-off and admission steps: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Grade 1 fact sheet.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Grade 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first step matters more than ever.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4526280"/>
          </a:xfrm>
          <a:prstGeom prst="roundRect">
            <a:avLst>
              <a:gd name="adj" fmla="val 3243"/>
            </a:avLst>
          </a:prstGeom>
          <a:solidFill>
            <a:srgbClr val="FFF8E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has changed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2834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before school does, so attention and patience have to be built on purpose.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reading and number, laid in the first years, carry everything after.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what a child can do with knowledge — not just what they remember.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3716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GRADE 1 BUILDS — AND WHAT YOU WILL SEE BY GRADE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737360"/>
            <a:ext cx="7406640" cy="1234440"/>
          </a:xfrm>
          <a:prstGeom prst="roundRect">
            <a:avLst>
              <a:gd name="adj" fmla="val 8889"/>
            </a:avLst>
          </a:prstGeom>
          <a:solidFill>
            <a:srgbClr val="FFF8EC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2084832"/>
            <a:ext cx="502920" cy="50292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304288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with understanding and for pleasure; understands numbers, not just recites them.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06240" y="3108960"/>
            <a:ext cx="7406640" cy="1234440"/>
          </a:xfrm>
          <a:prstGeom prst="roundRect">
            <a:avLst>
              <a:gd name="adj" fmla="val 8889"/>
            </a:avLst>
          </a:prstGeom>
          <a:solidFill>
            <a:srgbClr val="FFF8E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3456432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3273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Personality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675888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up, presents their own work to you, and recovers when something goes wrong.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206240" y="4480560"/>
            <a:ext cx="7406640" cy="1234440"/>
          </a:xfrm>
          <a:prstGeom prst="roundRect">
            <a:avLst>
              <a:gd name="adj" fmla="val 8889"/>
            </a:avLst>
          </a:prstGeom>
          <a:solidFill>
            <a:srgbClr val="FFF8EC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4828032"/>
            <a:ext cx="502920" cy="50292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4645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5047488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tried farming, music, art, sport and making — and you can name what lights them up.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06240" y="5897880"/>
            <a:ext cx="7406640" cy="9144"/>
          </a:xfrm>
          <a:prstGeom prst="roundRect">
            <a:avLst>
              <a:gd name="adj" fmla="val 120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won’t wait twelve years to know you chose well. By Grade 3, you will — and your child simply carries on to Grade 12.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31520" cy="68580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645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and see Grade 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Vijayadasami, Tuesday 20 October — at HLC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7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Real School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session in a real Grade 1 class, weekdays 3:30 to 5 pm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042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902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 to a Grade 1 teacher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8902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about readiness, the day and the first weeks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classrooms on 20 October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Vidyarambham, golu and Grade 1 classrooms open to visit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8398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258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early-bird welcome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21258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off the admission fee when you confirm by 20 October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a visit, a stay-and-play morning, then apply.   Register: [website]  ·  [phone]  ·  HLC International, Karanai, OMR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roads have changed. Raise them to find their own way.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HLC Discover</dc:title>
  <dc:subject>PptxGenJS Presentation</dc:subject>
  <dc:creator>PptxGenJS</dc:creator>
  <cp:lastModifiedBy>PptxGenJS</cp:lastModifiedBy>
  <cp:revision>1</cp:revision>
  <dcterms:created xsi:type="dcterms:W3CDTF">2026-09-30T02:36:31Z</dcterms:created>
  <dcterms:modified xsi:type="dcterms:W3CDTF">2026-09-30T02:36:31Z</dcterms:modified>
</cp:coreProperties>
</file>