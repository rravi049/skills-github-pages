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Applicants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Thalambur</c:v>
                </c:pt>
                <c:pt idx="1">
                  <c:v>Perumbakkam</c:v>
                </c:pt>
                <c:pt idx="2">
                  <c:v>Sholinganallur</c:v>
                </c:pt>
                <c:pt idx="3">
                  <c:v>Karanai</c:v>
                </c:pt>
                <c:pt idx="4">
                  <c:v>Navalur</c:v>
                </c:pt>
                <c:pt idx="5">
                  <c:v>Padur</c:v>
                </c:pt>
                <c:pt idx="6">
                  <c:v>Siruseri</c:v>
                </c:pt>
                <c:pt idx="7">
                  <c:v>Sithalapakkam</c:v>
                </c:pt>
                <c:pt idx="8">
                  <c:v>Egattur</c:v>
                </c:pt>
                <c:pt idx="9">
                  <c:v>Ottiyambakkam</c:v>
                </c:pt>
                <c:pt idx="10">
                  <c:v>Semmancheri</c:v>
                </c:pt>
                <c:pt idx="11">
                  <c:v>Mambakkam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</c:v>
                </c:pt>
                <c:pt idx="1">
                  <c:v>21</c:v>
                </c:pt>
                <c:pt idx="2">
                  <c:v>20</c:v>
                </c:pt>
                <c:pt idx="3">
                  <c:v>19</c:v>
                </c:pt>
                <c:pt idx="4">
                  <c:v>17</c:v>
                </c:pt>
                <c:pt idx="5">
                  <c:v>11</c:v>
                </c:pt>
                <c:pt idx="6">
                  <c:v>10</c:v>
                </c:pt>
                <c:pt idx="7">
                  <c:v>10</c:v>
                </c:pt>
                <c:pt idx="8">
                  <c:v>8</c:v>
                </c:pt>
                <c:pt idx="9">
                  <c:v>7</c:v>
                </c:pt>
                <c:pt idx="10">
                  <c:v>7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3E-4DBF-B44C-712A2182B2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72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F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PLAYBOOK  ·  OCTOBER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knocking — and exactly what to say to them.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318 applications received since November 2025, matched against our current families. For the Growth Enabler and the admissions team.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confidential. Income and mobility figures are estimates from job titles, never to be shared with families.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typical applicant is a nearby IT family who wants a nurturing school.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numbers to remember before any conversation.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placeable addresses are within 10 km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15768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community where an HLC family already lives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74336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fathers who told us work in IT; 1 in 3 mothers is a homemaker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32904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15784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8A6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415784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family income of ₹30 lakh a year or more (where estimable)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91472" y="1371600"/>
            <a:ext cx="2103120" cy="1737360"/>
          </a:xfrm>
          <a:prstGeom prst="roundRect">
            <a:avLst>
              <a:gd name="adj" fmla="val 2632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74352" y="1508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9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674352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roles that often involve overseas postings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2900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SALES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DF3EC"/>
          </a:solidFill>
          <a:ln w="12700">
            <a:solidFill>
              <a:srgbClr val="EDF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5876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locally, not city-wide.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20624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our demand is within a 10-minute drive. Spend time in communities, not on citywide advertising.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74904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85876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families are our best salespeople.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0624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applicant in three lives in a community with an HLC family. A neighbour’s word beats any brochure.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93776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DF3EC"/>
          </a:solidFill>
          <a:ln w="12700">
            <a:solidFill>
              <a:srgbClr val="EDF3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504748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how we teach, not the board.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3949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name values, hands-on learning and confidence far more often than Cambridge.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937760"/>
            <a:ext cx="5532120" cy="1051560"/>
          </a:xfrm>
          <a:prstGeom prst="roundRect">
            <a:avLst>
              <a:gd name="adj" fmla="val 434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504748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transfer worry before it is asked.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3949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travels. For MNC families, say so early.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HLC application forms, Nov 2025 onwards (318), and the 2025–26 master list. Estimates are proxies; see the Applicant Insights workbook.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six localities and a dozen communities, and you win the year.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by locality, within 15 km, and the communities where our families already live.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280160"/>
            <a:ext cx="4937760" cy="2148840"/>
          </a:xfrm>
          <a:prstGeom prst="roundRect">
            <a:avLst>
              <a:gd name="adj" fmla="val 2128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3716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HOTSPOTS — HLC FAMILIES ALREADY LIVE HERE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691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 Cassia · Olympia Opaline · Ramaniyam Pushkar · AWHO Dinesh Vihar · Pacifica Aurum · Casagrand Supremus · Casagrand Divinity · Arihant Heirloom · Ceebros Belvedere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697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one parent ambassador per community, one golu invitation card per HLC family in each.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3611880"/>
          <a:ext cx="5212080" cy="174193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Doorstep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Thalambur, Karanai, Navalur, Semmancheri, Egattur, Sholinganallur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and Grade 1 first. Walk-ins, community events, parent ambassadors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Near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Perumbakkam, Padur, Siruseri, Sithalapakkam, Mambakkam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grades. Offer to connect families with HLC parents on the same route for carpools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Commutable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Medavakkam, Thoraipakkam, ECR belt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6–11 only; younger children rarely travel this far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Localities from applicants’ home addresses; distances approximate. Community matches are probable, not certain.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COME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grade group is looking for something different.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applicants in each group naming a reason in their own words. The top reason is highlighted.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183184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notable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within 10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an HLC 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Pre-KG, LKG, UKG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(29%)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(22%)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skills (19%)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(42%)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Confidence, life skills (35%)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2–5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(31%)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learning (28%)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All-round development (23%)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6–9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(37%)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Confidence, leadership (35%)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Nurturing, values (48%)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All-round development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Cambridge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26280"/>
            <a:ext cx="11247120" cy="1737360"/>
          </a:xfrm>
          <a:prstGeom prst="roundRect">
            <a:avLst>
              <a:gd name="adj" fmla="val 2632"/>
            </a:avLst>
          </a:prstGeom>
          <a:solidFill>
            <a:srgbClr val="EEF3F8"/>
          </a:solidFill>
          <a:ln w="12700">
            <a:solidFill>
              <a:srgbClr val="C6D6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61772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is the warmest segment: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nearest, most connected to our families, and buying exactly what we do best — learning by doing.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11 families look wealthier and better connected,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as many business owners as IT professionals — but only 23 applied, so treat this as a signal, not a finding.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only surfaces as a reason at Grade 11.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that, never lead with the board.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tagged by keyword from the "Why are you considering HLC?" answers; an answer can carry several reasons.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BY GRADE GROUP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one thing per group — the thing they already came for.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headline in every conversation, flyer and post aimed at that group.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24185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parent is asking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to show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Pre-KG, LKG, UKG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my child be safe — and will they cry?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Safety, then comfort, then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HLC Discover: safe, cared for, learning — and can’t wait to come back.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in every class; two teachers and an aayah; a KG-only toilet; daily snippets; KG fee held flat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they love learning?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by doing,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won’t wait twelve years to see it. By Grade 3, you will.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Grade 1 lesson; a Learning Story; the student-led conference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2–5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they be known and stretched?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Nurturing plus rigour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adults who know your child — and push them.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Differentiated work; a Grade 5 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 6–9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child is changing — will school keep up?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independence, real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rule has changed — and so has your child.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Council, Hoops of Fire, Militvaa; the Grade 8 subject choice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this open the right doors?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Pathways, leadership, abroad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roads have changed. Hand them the keys with confidence.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destinations; the coaching-free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above already exists in the campaign material — the one-slide pitches, the fee pitch and "The Road" film cutdowns.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BY FAMILY PROFILE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 the emphasis to the family in front of you.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Profession, income and mobility change how the same message should land.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23682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spot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to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say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Dual-income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parents in IT or consulting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reliability, logistics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Timings, one named contact, the monthly payment option. Use the upskilling parallel.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father, homemaker mother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 at home, often the decision-maker for KG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Warmth, involvement, belonging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 her in — golu, family mornings, parent ambassadors. She is also your best referrer.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business, founder, trader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Leadership, initiative, 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stories: Militvaa, Shark Tank, an alumnus who founded a company. Strongest at Grade 11.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Posted-abroad risk (MNC, global roles)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Global, APAC or onsite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Cambridge is recognised worldwide; a move need not mean starting over.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₹30–50 lakh a year (the largest group)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Mid-level IT and management roles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for money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adults per class; no coaching bill later; the monthly option. Never discount.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lakh and above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roles, CXOs, doctors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attention, global pathways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Alumni abroad; small classes; named faculty.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and income bands are internal estimates. Never ask a family about income; never let an estimate change how a family is treated.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SHARPER — KG AND GRADE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segments, each with its own message and its own way of working.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where the data supports treating them differently. Ordered by how fast they convert.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268528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work them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Returning families — applied last year, didn’t join, now the right 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85  (33 now LKG-age, 35 UKG, 17 Grade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reason to look again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“She’s a year older. Come and see what she’d be doing now.”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call in week 1 by Niharika or a founder. Offer a priority visit slot. Highest yield, near-zero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First-school KG — homemaker mother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in 3 KG households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Warmth, involvement, an extension of home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HLC Discover: an extension of home that doesn’t end at UKG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stay-and-play mornings; invite to HLC’s golu. She becomes your next referrer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First-school KG — both parents working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in 3 KG households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Reliability, safety, logistics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Safe, unhurried, and learning faster than ever — with clear timings and one named contact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slots only; WhatsApp follow-up; show timings and the monthly option up front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Preschool leavers — into Grade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UKG child in a standalone preschool within 5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and readiness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great start matters most when it doesn’t stop at UKG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Founder-to-preschool-owner visits; a Grade 1 classroom visit for their parents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 Cassia, Olympia Opaline, Ramaniyam, AWHO Dinesh Vihar, Pacifica Aurum, Casagrand Supremus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from people they know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“Ask the HLC family on your floor.”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parent ambassador per community; a Discover play corner at the community’s own Navaratri event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4545"/>
            </a:avLst>
          </a:prstGeom>
          <a:solidFill>
            <a:srgbClr val="F9F0F0"/>
          </a:solidFill>
          <a:ln w="12700">
            <a:solidFill>
              <a:srgbClr val="E3C9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30952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C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— SAY IT PLAINLY, NEVER IMPLY IT</a:t>
            </a:r>
            <a:endParaRPr lang="en-US" sz="950" dirty="0"/>
          </a:p>
        </p:txBody>
      </p:sp>
      <p:sp>
        <p:nvSpPr>
          <p:cNvPr id="5" name="Text 5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is not offering school transport this year. Do not mention it in any pitch, flyer or post. If a family asks: “We don’t run transport at present. Many of our families carpool within their community — we’d be glad to introduce you to HLC parents near you.” Dual-income families (segment 3) will ask most often.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is approximate: applicants from Nov 2025 whose first name is not on the current roll. Confirm against admissions records before calling.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FIRST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 and fast first — unless something expensive is clearly more powerful.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activity scored for effort, cost and expected seats.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381304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seats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run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Thank-you note to every family, with alumni proof points; website live with seat counts and a one-field 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all others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 the ask before making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the ≈ 85 returning families: 50% off the admission fee if they confirm by 20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to those who didn’t join; re-invite anyone declined only if the reason no longer applies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Parents, grandparents, relatives and alumni share on WhatsApp; every lead called the same day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the campaign clips so daily reposts don’t tire. An innovation kit for the child per visit, not per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ambassadors in the six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₹0–5k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 three applicants lives next to an HLC family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Golu invitations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crafted invitations with a gift for 20–30 ambassador families; a personalised e-invite for everyone else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visits to preschools within 5 km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written, disclosed partnership: readiness sessions, teacher workshops, a declared referral fee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Vijayadasami on campus: golu, children’s events, Vidyarambham, three repeat slots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Offer: free Vidyarambham plus the early-bird fee. AC tent doubles as monsoon cover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Navaratri sponsorship, posters and standees in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posters everywhere with association permission; student standees only with written parental consent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Geo-targeted ads within 5 km; Instagram, Facebook, LinkedIn, YouTube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₹30–40k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only; measure cost per enquiry weekly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 activation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L+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enquiries lag on 8 October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seats are planning estimates. Ranks 0–4 cost almost nothing and should cover more than half the target. Full set about ₹3.2–3.8 L with one month of field staff: two for outreach, one for logistics.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AT HLC  ·  THE EARLY YEARS OF HLC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KG parent is not choosing a school. They are handing over their child.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buy, in order — validated against parents’ feedback and the preschools we compete with.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F9F0F0"/>
          </a:solidFill>
          <a:ln w="12700">
            <a:solidFill>
              <a:srgbClr val="E3C9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538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9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C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17320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 every class and common area, reviewed with parents on request · background-verified staff · one secure entrance; pick-up only by named adults · a KG-only, child-height toilet, attended and cleaned every hour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500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13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42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and heart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13432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Three: two teachers and an aayah in every class, so no child is upset alone · a gentle settling-in fortnight · the same faces every day · a colourful room built to a child’s height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EEF3F8"/>
          </a:solidFill>
          <a:ln w="12700">
            <a:solidFill>
              <a:srgbClr val="C6D6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 should be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209544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photo or video of their child at work · a weekly “What I did” note · a written Learning Story each term · continuity to Grade 12, with no forced move after UKG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7648042" cy="804672"/>
          </a:xfrm>
          <a:prstGeom prst="roundRect">
            <a:avLst>
              <a:gd name="adj" fmla="val 5682"/>
            </a:avLst>
          </a:prstGeom>
          <a:solidFill>
            <a:srgbClr val="F7F2E6"/>
          </a:solidFill>
          <a:ln w="12700">
            <a:solidFill>
              <a:srgbClr val="DFD0A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422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8A6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1056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A6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for tomorrow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4105656"/>
            <a:ext cx="44933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play, songs and stories · friendships in small groups · habits that travel home: a weekly screen-free play idea for the family · we ask you at six weeks: does your child want to come to school?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33842" y="1325880"/>
            <a:ext cx="3370478" cy="3438144"/>
          </a:xfrm>
          <a:prstGeom prst="roundRect">
            <a:avLst>
              <a:gd name="adj" fmla="val 1356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62442" y="1435608"/>
            <a:ext cx="29132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F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SUB-BRAND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562442" y="1691640"/>
            <a:ext cx="2913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562442" y="2176272"/>
            <a:ext cx="2913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6E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Safe. Cared for. Learning. And can’t wait to come back.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62442" y="2834640"/>
            <a:ext cx="29132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name, colours and entrance; </a:t>
            </a:r>
            <a:r>
              <a:rPr lang="en-US" sz="10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“at HLC”, so the road to Grade 12 stays visible.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“Discover” </a:t>
            </a:r>
            <a:r>
              <a:rPr lang="en-US" sz="10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HLC’s own name for the KG stage.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a school with a President’s Award–winning teacher — </a:t>
            </a:r>
            <a:r>
              <a:rPr lang="en-US" sz="105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distinction no preschool nearby can match.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983480"/>
            <a:ext cx="11247120" cy="132588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07492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MODEL, AND ALREADY IN OUR CATCHMENT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3035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Kangaroo Kids → Billabong High (Kelambakkam)   ·   EuroKids → EuroSchool   ·   Podar Jumbo Kids → Podar International   ·   Little Millennium → Millennium Schools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a warm, child-sized identity with its own look and daily parent updates — but a visible path into the parent school. That path is what a standalone preschool can never offer.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features from their public websites and listings. HLC shows CCTV to parents on request rather than streaming it, to protect every child’s privacy.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VISIBLE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parent must see, touch and receive — on campus and beyond it.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by feasibility and timing. Quick wins go in before Vijayadasami; the full identity follows.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532120" cy="2759964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campus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20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KG entrance and welcome area, with HLC Discover signage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Signage yes; entrance 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Colourful, cheerful KG rooms: murals, child-height furniture, a soft corner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key rooms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visible in every KG class, with a sign that says 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KG-only, child-height toilet, attended and cleaned hourly — shown on every tour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of Three: teachers and aayah in warm matching tops and name badges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parent window: waiting area with a view of play, and a wall of the week’s photos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walk on every visit: entrance, pick-up, CCTV, first aid, toilets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5532120" cy="2759964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campus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20 Oct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photo or short video of each child, sent to parents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view their child’s class through the existing CCTV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privacy and vendor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Google Business listing: HLC Discover — the early years of HLC International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wins “preschool near me” searches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Instagram highlight or handle for HLC Discover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flyers and A3 posters in hotspot communities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live-view app of the child at any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offered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why: privacy of every child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Parents’ stay-and-play mornings, and a settling-in plan they can 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5556"/>
            </a:avLst>
          </a:prstGeom>
          <a:solidFill>
            <a:srgbClr val="F7F2E6"/>
          </a:solidFill>
          <a:ln w="12700">
            <a:solidFill>
              <a:srgbClr val="DFD0A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parent asks for live CCTV: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KG class is on camera, and we’ll review any moment with you on request. We don’t stream it, because the same camera shows other people’s children too — and we protect yours the same way.”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RIVALS, THREE DIFFERENT PITCHES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Safety, care and happiness win us a seat at the table. They do not win the decision.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preschools’ own parents praise exactly our pyramid. What differs is the one thing we lead with against each rival.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261823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parent is leaning towards…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pull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are weaker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A preschool in their own community — in the complex, the clubhouse or the next street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Walk-to-school ease, a teacher they know as a neighbour, tiny groups, low fees, flexible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and safety they can check: CCTV, verified staff, a KG-only toilet. Two teachers and an aayah. No move after UKG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Distance, and we don’t run transport. Less flexible hours. Higher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Safe, always — then the Circle of Three. Offer carpools with HLC families in their own 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A branded chain preschool that stops at UKG or Grade 2 — EuroKids, Kidzee, Kangaroo Kids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known brand, CCTV, daycare hours, transport, a parent app, fees around ₹20–45k a year locally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second admission hunt at 5 or 6. Three adults per class. A school with a President’s Award–winning teacher. Thirty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match us on safety and care. They offer daycare, transport and a live app. Lower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great start that doesn’t stop at UKG — and the one number that matters: adults per child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A school like HLC with its own KG — Billabong High with Kangaroo Kids, Campus K, JS Global, Hiranandani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like ours, bigger campuses, more facilities,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enough to know every child. The Circle of Three. Learning that feels like play, not early pressure. Thirty years of one philosophy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is not unique here. Smaller campus. No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Loves learning — level 4. Invite them to watch a class, then ask where their child would be known by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983480"/>
            <a:ext cx="5532120" cy="1325880"/>
          </a:xfrm>
          <a:prstGeom prst="roundRect">
            <a:avLst>
              <a:gd name="adj" fmla="val 3448"/>
            </a:avLst>
          </a:prstGeom>
          <a:solidFill>
            <a:srgbClr val="F7F2E6"/>
          </a:solidFill>
          <a:ln w="12700">
            <a:solidFill>
              <a:srgbClr val="DFD0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0749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TO DECIDE, NOT HIDE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3492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hours for working parents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chain offers daycare.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offered; carpools are the honest alternative.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higher than a chain; justify by adults per child and no second admission.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4983480"/>
            <a:ext cx="5532120" cy="1325880"/>
          </a:xfrm>
          <a:prstGeom prst="roundRect">
            <a:avLst>
              <a:gd name="adj" fmla="val 3448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50749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TO ASK EVERY KG PARENT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34924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other places are you looking at?” — then use the row above. The answer tells you which of the three pitches to make.</a:t>
            </a:r>
            <a:endParaRPr lang="en-US" sz="1300" dirty="0"/>
          </a:p>
        </p:txBody>
      </p:sp>
      <p:sp>
        <p:nvSpPr>
          <p:cNvPr id="5" name="Text 9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features and fee ranges from their public websites and preschool listings for Sholinganallur, Semmancheri and Thalambur. Verify before quoting a competitor to a parent.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 ·  A DIFFERENT DECISION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parents, Grade 1 is the first step into real school.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pitch shifts from comfort to continuity and the three promises — and it needs no preschool agreements.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760720" cy="1889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1 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Thinks of it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extension of home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into real school — the first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Worries about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Safety, crying, comfort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Readiness, the right school, not moving again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HLC Discover: safe, cared for, loves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step into real school — and the last admission you’ll need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CCTV, the Circle of Three, daily snippets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Grade 1 class in action; see it by Grade 3; the road to Grade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325880"/>
            <a:ext cx="5212080" cy="3657600"/>
          </a:xfrm>
          <a:prstGeom prst="roundRect">
            <a:avLst>
              <a:gd name="adj" fmla="val 1250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20840" y="14356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CAMPAIGN: READY FOR REAL SCHOOL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737360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one-page checklist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“Is my child ready for Grade 1?” — shared through community WhatsApp groups and ambassadors. Costs nothing; parents forward it.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weekday sessions, 3:30–5 pm,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 UKG child from any preschool: a real Grade 1 class, parents watching. No partnership needed.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within 5 km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“Grade 1 admission near me”.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Grade 1 and 2 parents 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UKG families they know.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it meets the preschool parent at exactly the moment they must choose, gives them something useful before asking for anything, and puts their child in a real classroom.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 ·  1 TO 20 OCTOBER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working days. Thirty seats. Run it from two workbooks.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KG + 10 Grade 1 from 200 leads — a third of this year’s target of 100.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035040" cy="24277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5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Thank-you note sent to every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6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live with seat counts and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·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8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ambassadors; KG ≥ 50 and Grade 1 ≥ 25 enquiries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9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tour-ready as HLC Discover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12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≈ 85 returning families contacted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15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Ready for Real School sessions held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16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Vidyarambham registrations confirmed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20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Vijayadasami: 30 seats booked or in final follow-up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325880"/>
            <a:ext cx="4937760" cy="2011680"/>
          </a:xfrm>
          <a:prstGeom prst="roundRect">
            <a:avLst>
              <a:gd name="adj" fmla="val 2273"/>
            </a:avLst>
          </a:prstGeom>
          <a:solidFill>
            <a:srgbClr val="EEF3F8"/>
          </a:solidFill>
          <a:ln w="12700">
            <a:solidFill>
              <a:srgbClr val="C6D6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14356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1737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HLC_Sales_Execution_Calendar.xlsx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activity with owner and dates, the milestones, and the daily scorecard.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HLC_Growth_Leader_Orientation.xlsx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Niharika’s self-enablement plan and her reference pack.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3520440"/>
            <a:ext cx="4937760" cy="2697480"/>
          </a:xfrm>
          <a:prstGeom prst="roundRect">
            <a:avLst>
              <a:gd name="adj" fmla="val 1695"/>
            </a:avLst>
          </a:prstGeom>
          <a:solidFill>
            <a:srgbClr val="EDF3EC"/>
          </a:solidFill>
          <a:ln w="12700">
            <a:solidFill>
              <a:srgbClr val="C3D6C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36301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3D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RULES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9319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the same day — always.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they came for; show that one thing.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lead with the board below Grade 11.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discuss income, discounts or transport promises.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every conversation with a dated next step.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Holidays: Fri 2 Oct and Mon 19 Oct. Weekend community events only with founder approval.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3755</Words>
  <Application>Microsoft Office PowerPoint</Application>
  <PresentationFormat>Widescreen</PresentationFormat>
  <Paragraphs>455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Sales Playbook</dc:title>
  <dc:subject>PptxGenJS Presentation</dc:subject>
  <dc:creator>PptxGenJS</dc:creator>
  <cp:lastModifiedBy>Ravi Radhakrishnan</cp:lastModifiedBy>
  <cp:revision>2</cp:revision>
  <dcterms:created xsi:type="dcterms:W3CDTF">2026-09-29T12:30:18Z</dcterms:created>
  <dcterms:modified xsi:type="dcterms:W3CDTF">2026-09-29T12:37:01Z</dcterms:modified>
</cp:coreProperties>
</file>