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67323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8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0"/>
            <a:ext cx="777240" cy="731520"/>
          </a:xfrm>
          <a:prstGeom prst="star5">
            <a:avLst/>
          </a:prstGeom>
          <a:solidFill>
            <a:srgbClr val="F6C12B"/>
          </a:solidFill>
          <a:ln w="12700">
            <a:solidFill>
              <a:srgbClr val="E0A8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0116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0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HLC International</a:t>
            </a:r>
            <a:endParaRPr lang="en-US" sz="5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0175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i="1" dirty="0">
                <a:solidFill>
                  <a:srgbClr val="E956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Curious learners. Mindful leaders.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79476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Thirty years of one idea: that every child can grow into an adult who knows how to learn, knows who they are, and knows where they want to go.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5074920"/>
            <a:ext cx="365760" cy="365760"/>
          </a:xfrm>
          <a:prstGeom prst="ellipse">
            <a:avLst/>
          </a:prstGeom>
          <a:solidFill>
            <a:srgbClr val="2F7FC1"/>
          </a:solidFill>
          <a:ln w="12700">
            <a:solidFill>
              <a:srgbClr val="2F7FC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5074920"/>
            <a:ext cx="365760" cy="36576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54480" y="5074920"/>
            <a:ext cx="365760" cy="36576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57400" y="5074920"/>
            <a:ext cx="365760" cy="365760"/>
          </a:xfrm>
          <a:prstGeom prst="ellipse">
            <a:avLst/>
          </a:prstGeom>
          <a:solidFill>
            <a:srgbClr val="E9567B"/>
          </a:solidFill>
          <a:ln w="12700">
            <a:solidFill>
              <a:srgbClr val="E9567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57607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Karanai, Chennai  ·  KG to Grade 12  ·  Cambridge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956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DO WHAT WE DO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world our children are walking into has changed.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1556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line most of us grew up with was simple. It no longer goes where it used to.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91640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 LINE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2514600" cy="685800"/>
          </a:xfrm>
          <a:prstGeom prst="roundRect">
            <a:avLst>
              <a:gd name="adj" fmla="val 13333"/>
            </a:avLst>
          </a:prstGeom>
          <a:solidFill>
            <a:srgbClr val="EDEDED"/>
          </a:solidFill>
          <a:ln w="15240">
            <a:solidFill>
              <a:srgbClr val="BFBFB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1488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school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063240" y="212140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337560" y="1965960"/>
            <a:ext cx="2514600" cy="685800"/>
          </a:xfrm>
          <a:prstGeom prst="roundRect">
            <a:avLst>
              <a:gd name="adj" fmla="val 13333"/>
            </a:avLst>
          </a:prstGeom>
          <a:solidFill>
            <a:srgbClr val="EDEDED"/>
          </a:solidFill>
          <a:ln w="15240">
            <a:solidFill>
              <a:srgbClr val="BFBFB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37560" y="21488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marks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852160" y="212140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126480" y="1965960"/>
            <a:ext cx="2514600" cy="685800"/>
          </a:xfrm>
          <a:prstGeom prst="roundRect">
            <a:avLst>
              <a:gd name="adj" fmla="val 13333"/>
            </a:avLst>
          </a:prstGeom>
          <a:solidFill>
            <a:srgbClr val="EDEDED"/>
          </a:solidFill>
          <a:ln w="15240">
            <a:solidFill>
              <a:srgbClr val="BFBFB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26480" y="21488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college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641080" y="212140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915400" y="1965960"/>
            <a:ext cx="251460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240">
            <a:solidFill>
              <a:srgbClr val="BFBFB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915400" y="21488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job?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3017520"/>
            <a:ext cx="3520440" cy="2240280"/>
          </a:xfrm>
          <a:prstGeom prst="roundRect">
            <a:avLst>
              <a:gd name="adj" fmla="val 4082"/>
            </a:avLst>
          </a:prstGeom>
          <a:solidFill>
            <a:srgbClr val="F6F6F6"/>
          </a:solidFill>
          <a:ln w="15240">
            <a:solidFill>
              <a:srgbClr val="DDDDD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" y="32004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Fewer queues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370332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employers take far fewer graduates straight off campus than they once did. A degree still opens doors, but it no longer guarantees a place in line.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297680" y="3017520"/>
            <a:ext cx="3520440" cy="2240280"/>
          </a:xfrm>
          <a:prstGeom prst="roundRect">
            <a:avLst>
              <a:gd name="adj" fmla="val 4082"/>
            </a:avLst>
          </a:prstGeom>
          <a:solidFill>
            <a:srgbClr val="F6F6F6"/>
          </a:solidFill>
          <a:ln w="15240">
            <a:solidFill>
              <a:srgbClr val="DDDDD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72000" y="32004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wider map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0" y="370332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Design, sport, aviation, hospitality, media, research, starting something of your own — respected paths that barely existed a generation ago.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046720" y="3017520"/>
            <a:ext cx="3520440" cy="2240280"/>
          </a:xfrm>
          <a:prstGeom prst="roundRect">
            <a:avLst>
              <a:gd name="adj" fmla="val 4082"/>
            </a:avLst>
          </a:prstGeom>
          <a:solidFill>
            <a:srgbClr val="F6F6F6"/>
          </a:solidFill>
          <a:ln w="15240">
            <a:solidFill>
              <a:srgbClr val="DDDDD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321040" y="32004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different ask</a:t>
            </a:r>
            <a:endParaRPr lang="en-US" sz="1900" dirty="0"/>
          </a:p>
        </p:txBody>
      </p:sp>
      <p:sp>
        <p:nvSpPr>
          <p:cNvPr id="25" name="Text 23"/>
          <p:cNvSpPr txBox="1"/>
          <p:nvPr/>
        </p:nvSpPr>
        <p:spPr>
          <a:xfrm>
            <a:off x="8321040" y="370332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world now rewards people who can take initiative, solve problems, work with others and lead — not only those who can recall what they know.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E956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Academics have not become less important. They have become not enough on their own.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HLC International · Karanai, Chennai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956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HLC STANDS FOR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promises for every child who leaves HLC.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1556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three programmes — three ways of asking whether an HLC education is doing its job.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FFF8EC"/>
          </a:solidFill>
          <a:ln w="15240">
            <a:solidFill>
              <a:srgbClr val="2F7FC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011680"/>
            <a:ext cx="640080" cy="640080"/>
          </a:xfrm>
          <a:prstGeom prst="ellipse">
            <a:avLst/>
          </a:prstGeom>
          <a:solidFill>
            <a:srgbClr val="2F7FC1"/>
          </a:solidFill>
          <a:ln w="12700">
            <a:solidFill>
              <a:srgbClr val="2F7FC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075688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8346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Academically capable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38328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know how to learn, have strong foundations, and meet real academic demands.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297680" y="178308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FFF8EC"/>
          </a:solidFill>
          <a:ln w="15240">
            <a:solidFill>
              <a:srgbClr val="4CAF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2011680"/>
            <a:ext cx="640080" cy="64008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0" y="2075688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28346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Personally grounded</a:t>
            </a:r>
            <a:endParaRPr lang="en-US" sz="21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338328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know themselves, relate well to others, and handle challenge with growing responsibility.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046720" y="178308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FFF8EC"/>
          </a:solidFill>
          <a:ln w="15240">
            <a:solidFill>
              <a:srgbClr val="F39C1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21040" y="2011680"/>
            <a:ext cx="640080" cy="64008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321040" y="2075688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28346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Purposefully directed</a:t>
            </a:r>
            <a:endParaRPr lang="en-US" sz="2100" dirty="0"/>
          </a:p>
        </p:txBody>
      </p:sp>
      <p:sp>
        <p:nvSpPr>
          <p:cNvPr id="19" name="Text 17"/>
          <p:cNvSpPr txBox="1"/>
          <p:nvPr/>
        </p:nvSpPr>
        <p:spPr>
          <a:xfrm>
            <a:off x="8321040" y="338328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have seen enough of the world to recognise what draws them, and choose where to go.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3949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5555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They are inseparable. Strong academics with no compromise, a child who is grounded, and a direction that is genuinely their own.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HLC International · Karanai, Chennai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JOURNEY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promises grow with the child — one school, KG to Grade 12.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1556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has its own work, and each builds on the last.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139696" cy="777240"/>
          </a:xfrm>
          <a:prstGeom prst="chevron">
            <a:avLst/>
          </a:prstGeom>
          <a:solidFill>
            <a:srgbClr val="F6C1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920240"/>
            <a:ext cx="1591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Early years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267712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LKG · UKG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834640"/>
            <a:ext cx="1956816" cy="1554480"/>
          </a:xfrm>
          <a:prstGeom prst="roundRect">
            <a:avLst>
              <a:gd name="adj" fmla="val 5882"/>
            </a:avLst>
          </a:prstGeom>
          <a:solidFill>
            <a:srgbClr val="FFF8EC"/>
          </a:solidFill>
          <a:ln w="15240">
            <a:solidFill>
              <a:srgbClr val="E6DCC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3017520"/>
            <a:ext cx="16824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Safe, cared for, and in love with learning.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79776" y="1828800"/>
            <a:ext cx="2139696" cy="777240"/>
          </a:xfrm>
          <a:prstGeom prst="chevron">
            <a:avLst/>
          </a:prstGeom>
          <a:solidFill>
            <a:srgbClr val="E9567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054096" y="1920240"/>
            <a:ext cx="1591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Grade 1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054096" y="2267712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step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871216" y="2834640"/>
            <a:ext cx="1956816" cy="1554480"/>
          </a:xfrm>
          <a:prstGeom prst="roundRect">
            <a:avLst>
              <a:gd name="adj" fmla="val 5882"/>
            </a:avLst>
          </a:prstGeom>
          <a:solidFill>
            <a:srgbClr val="FFF8EC"/>
          </a:solidFill>
          <a:ln w="15240">
            <a:solidFill>
              <a:srgbClr val="E6DCC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008376" y="3017520"/>
            <a:ext cx="16824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school begins, with all the warmth of KG.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10912" y="1828800"/>
            <a:ext cx="2139696" cy="777240"/>
          </a:xfrm>
          <a:prstGeom prst="chevron">
            <a:avLst/>
          </a:prstGeom>
          <a:solidFill>
            <a:srgbClr val="4CAF5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285232" y="1920240"/>
            <a:ext cx="1591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Primary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285232" y="2267712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 2–5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102352" y="2834640"/>
            <a:ext cx="1956816" cy="1554480"/>
          </a:xfrm>
          <a:prstGeom prst="roundRect">
            <a:avLst>
              <a:gd name="adj" fmla="val 5882"/>
            </a:avLst>
          </a:prstGeom>
          <a:solidFill>
            <a:srgbClr val="FFF8EC"/>
          </a:solidFill>
          <a:ln w="15240">
            <a:solidFill>
              <a:srgbClr val="E6DCC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239512" y="3017520"/>
            <a:ext cx="16824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by name, learning without fear.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242048" y="1828800"/>
            <a:ext cx="2139696" cy="777240"/>
          </a:xfrm>
          <a:prstGeom prst="chevron">
            <a:avLst/>
          </a:prstGeom>
          <a:solidFill>
            <a:srgbClr val="2F7FC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516368" y="1920240"/>
            <a:ext cx="1591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Middle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516368" y="2267712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 6–9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33488" y="2834640"/>
            <a:ext cx="1956816" cy="1554480"/>
          </a:xfrm>
          <a:prstGeom prst="roundRect">
            <a:avLst>
              <a:gd name="adj" fmla="val 5882"/>
            </a:avLst>
          </a:prstGeom>
          <a:solidFill>
            <a:srgbClr val="FFF8EC"/>
          </a:solidFill>
          <a:ln w="15240">
            <a:solidFill>
              <a:srgbClr val="E6DCC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470648" y="3017520"/>
            <a:ext cx="16824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to grow up, and to choose.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9473184" y="1828800"/>
            <a:ext cx="2139696" cy="777240"/>
          </a:xfrm>
          <a:prstGeom prst="chevron">
            <a:avLst/>
          </a:prstGeom>
          <a:solidFill>
            <a:srgbClr val="1F4E7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747504" y="1920240"/>
            <a:ext cx="1591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school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9747504" y="2267712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 10–12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564624" y="2834640"/>
            <a:ext cx="1956816" cy="1554480"/>
          </a:xfrm>
          <a:prstGeom prst="roundRect">
            <a:avLst>
              <a:gd name="adj" fmla="val 5882"/>
            </a:avLst>
          </a:prstGeom>
          <a:solidFill>
            <a:srgbClr val="FFF8EC"/>
          </a:solidFill>
          <a:ln w="15240">
            <a:solidFill>
              <a:srgbClr val="E6DCC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701784" y="3017520"/>
            <a:ext cx="16824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Serious academics, a direction of their own.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48463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4CAF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forced move after UKG, no second admission, one philosophy the whole way — so nothing a child builds is left behind.</a:t>
            </a:r>
            <a:endParaRPr lang="en-US" sz="17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HLC International · Karanai, Chennai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8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956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EARLY YEARS · HLC DISCOVER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child is not starting school. A family is handing over their child.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1556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in LKG and UKG, every promise rests on the one beneath it.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297680" y="1600200"/>
            <a:ext cx="548640" cy="502920"/>
          </a:xfrm>
          <a:prstGeom prst="star5">
            <a:avLst/>
          </a:prstGeom>
          <a:solidFill>
            <a:srgbClr val="F6C12B"/>
          </a:solidFill>
          <a:ln w="12700">
            <a:solidFill>
              <a:srgbClr val="E0A8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0" y="2148840"/>
            <a:ext cx="3657600" cy="932688"/>
          </a:xfrm>
          <a:prstGeom prst="roundRect">
            <a:avLst>
              <a:gd name="adj" fmla="val 9804"/>
            </a:avLst>
          </a:prstGeom>
          <a:solidFill>
            <a:srgbClr val="E9567B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743200" y="22585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LOVES LEARNING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2926080" y="26517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feels like play — eager for tomorrow.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103120" y="3172968"/>
            <a:ext cx="4937760" cy="932688"/>
          </a:xfrm>
          <a:prstGeom prst="roundRect">
            <a:avLst>
              <a:gd name="adj" fmla="val 9804"/>
            </a:avLst>
          </a:prstGeom>
          <a:solidFill>
            <a:srgbClr val="F39C12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103120" y="328269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LEARNING, AS IT SHOULD BE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286000" y="36758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Age-appropriate progress you can see.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463040" y="4197096"/>
            <a:ext cx="6217920" cy="932688"/>
          </a:xfrm>
          <a:prstGeom prst="roundRect">
            <a:avLst>
              <a:gd name="adj" fmla="val 9804"/>
            </a:avLst>
          </a:prstGeom>
          <a:solidFill>
            <a:srgbClr val="4CAF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463040" y="4306824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CARED FOR, BODY AND HEART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645920" y="4700016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teachers and an aayah in every class.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" y="5221224"/>
            <a:ext cx="7498080" cy="932688"/>
          </a:xfrm>
          <a:prstGeom prst="roundRect">
            <a:avLst>
              <a:gd name="adj" fmla="val 9804"/>
            </a:avLst>
          </a:prstGeom>
          <a:solidFill>
            <a:srgbClr val="2F7FC1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5330952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SAFE, ALWAYS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" y="5724144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CCTV, verified staff, one secure entrance.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778240" y="2148840"/>
            <a:ext cx="2834640" cy="4005072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5240">
            <a:solidFill>
              <a:srgbClr val="E6DCC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006840" y="2331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E956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parents see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9006840" y="2788920"/>
            <a:ext cx="23774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photo of their child, every day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gentle settling-in fortnight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KG-only toilet, always attended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screen-free play idea for home each week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six weeks we ask: does your child want to come to school?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HLC International · Karanai, Chennai   ·   HLC Discover — the early years of HLC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first step into real school — where two journeys meet.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1556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heart is still holding on. Your head is already looking ahead. Both are right.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108960" cy="1371600"/>
          </a:xfrm>
          <a:prstGeom prst="roundRect">
            <a:avLst>
              <a:gd name="adj" fmla="val 6667"/>
            </a:avLst>
          </a:prstGeom>
          <a:solidFill>
            <a:srgbClr val="FDECF1"/>
          </a:solidFill>
          <a:ln w="15240">
            <a:solidFill>
              <a:srgbClr val="E9567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9019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E956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Holding on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3317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“Will someone still hold her hand?”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337560"/>
            <a:ext cx="3108960" cy="1371600"/>
          </a:xfrm>
          <a:prstGeom prst="roundRect">
            <a:avLst>
              <a:gd name="adj" fmla="val 6667"/>
            </a:avLst>
          </a:prstGeom>
          <a:solidFill>
            <a:srgbClr val="EAF2FA"/>
          </a:solidFill>
          <a:ln w="15240">
            <a:solidFill>
              <a:srgbClr val="2F7FC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34564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2F7FC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Looking ahead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8862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“Is this the school for the next twelve years?”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749040" y="2926080"/>
            <a:ext cx="731520" cy="640080"/>
          </a:xfrm>
          <a:prstGeom prst="rightArrow">
            <a:avLst/>
          </a:prstGeom>
          <a:solidFill>
            <a:srgbClr val="8E5BA8"/>
          </a:solidFill>
          <a:ln w="12700">
            <a:solidFill>
              <a:srgbClr val="8E5BA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17720" y="1783080"/>
            <a:ext cx="6995160" cy="2926080"/>
          </a:xfrm>
          <a:prstGeom prst="roundRect">
            <a:avLst>
              <a:gd name="adj" fmla="val 3125"/>
            </a:avLst>
          </a:prstGeom>
          <a:solidFill>
            <a:srgbClr val="F1E8F7"/>
          </a:solidFill>
          <a:ln w="15240">
            <a:solidFill>
              <a:srgbClr val="8E5BA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92040" y="196596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8E5B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 HLC, you don’t have to choose.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2560320"/>
            <a:ext cx="6492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school begins — with all the warmth of KG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groups, where every child is known by name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Reading, number sense and confidence built first, before early tests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free Ready for Real School session, in a real Grade 1 class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502920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FFF8EC"/>
          </a:solidFill>
          <a:ln w="15240">
            <a:solidFill>
              <a:srgbClr val="F39C1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523036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Grade 3, you will see it: </a:t>
            </a: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reads for pleasure, speaks up, presents her own work to you — and you can name what lights her up.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HLC International · Karanai, Chennai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F7F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AND MIDDLE YEARS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Known by name. Then trusted to grow up.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1556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stages, one thread: rigour without fear, and a child who stays curious.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440680" cy="4251960"/>
          </a:xfrm>
          <a:prstGeom prst="roundRect">
            <a:avLst>
              <a:gd name="adj" fmla="val 2151"/>
            </a:avLst>
          </a:prstGeom>
          <a:solidFill>
            <a:srgbClr val="FFF8EC"/>
          </a:solidFill>
          <a:ln w="15240">
            <a:solidFill>
              <a:srgbClr val="4CAF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83080"/>
            <a:ext cx="5440680" cy="64008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901952"/>
            <a:ext cx="5440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Primary · Grades 2–5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697480"/>
            <a:ext cx="4800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facilitators in class, so a struggling child is noticed early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are never announced or compared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by doing — farming, music, making, projects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Inclusion from day one; no punishments, the PEACE framework instead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72200" y="1783080"/>
            <a:ext cx="5440680" cy="4251960"/>
          </a:xfrm>
          <a:prstGeom prst="roundRect">
            <a:avLst>
              <a:gd name="adj" fmla="val 2151"/>
            </a:avLst>
          </a:prstGeom>
          <a:solidFill>
            <a:srgbClr val="FFF8EC"/>
          </a:solidFill>
          <a:ln w="15240">
            <a:solidFill>
              <a:srgbClr val="2F7FC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72200" y="1783080"/>
            <a:ext cx="5440680" cy="640080"/>
          </a:xfrm>
          <a:prstGeom prst="rect">
            <a:avLst/>
          </a:prstGeom>
          <a:solidFill>
            <a:srgbClr val="2F7FC1"/>
          </a:solidFill>
          <a:ln w="12700">
            <a:solidFill>
              <a:srgbClr val="2F7FC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72200" y="1901952"/>
            <a:ext cx="5440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Middle · Grades 6–9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2697480"/>
            <a:ext cx="4800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eleven and fourteen, a child starts becoming their own person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with real responsibility: Student Council, events they run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 subjects tried in Grade 8 before choosing for IGCSE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road ahead chosen, not assigned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HLC International · Karanai, Chennai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SCHOOL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Serious academics — and a life that begins to belong to them.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1556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compromise on rigour. Alongside it, a young person who knows what interests them, and can choose.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440680" cy="1965960"/>
          </a:xfrm>
          <a:prstGeom prst="roundRect">
            <a:avLst>
              <a:gd name="adj" fmla="val 4651"/>
            </a:avLst>
          </a:prstGeom>
          <a:solidFill>
            <a:srgbClr val="FFF8EC"/>
          </a:solidFill>
          <a:ln w="15240">
            <a:solidFill>
              <a:srgbClr val="2F7FC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1984248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2F7FC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Rigour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514600"/>
            <a:ext cx="4800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Cambridge IGCSE and A Levels, set and marked externally. Monthly assessment builds steadily to exam readiness.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172200" y="1783080"/>
            <a:ext cx="5440680" cy="1965960"/>
          </a:xfrm>
          <a:prstGeom prst="roundRect">
            <a:avLst>
              <a:gd name="adj" fmla="val 4651"/>
            </a:avLst>
          </a:prstGeom>
          <a:solidFill>
            <a:srgbClr val="FFF8EC"/>
          </a:solidFill>
          <a:ln w="15240">
            <a:solidFill>
              <a:srgbClr val="F39C1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92240" y="1984248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Choice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2514600"/>
            <a:ext cx="4800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Subjects they choose, from a wide range — and honest guidance on every path, including entrance exams.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3931920"/>
            <a:ext cx="5440680" cy="1965960"/>
          </a:xfrm>
          <a:prstGeom prst="roundRect">
            <a:avLst>
              <a:gd name="adj" fmla="val 4651"/>
            </a:avLst>
          </a:prstGeom>
          <a:solidFill>
            <a:srgbClr val="FFF8EC"/>
          </a:solidFill>
          <a:ln w="15240">
            <a:solidFill>
              <a:srgbClr val="4CAF5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680" y="4133088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4CAF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Leadership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4663440"/>
            <a:ext cx="4800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MUN, captaincy, events run by students, real work in the world — so they leave able to lead.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172200" y="3931920"/>
            <a:ext cx="5440680" cy="1965960"/>
          </a:xfrm>
          <a:prstGeom prst="roundRect">
            <a:avLst>
              <a:gd name="adj" fmla="val 4651"/>
            </a:avLst>
          </a:prstGeom>
          <a:solidFill>
            <a:srgbClr val="FFF8EC"/>
          </a:solidFill>
          <a:ln w="15240">
            <a:solidFill>
              <a:srgbClr val="E9567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92240" y="4133088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E956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Pathways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4663440"/>
            <a:ext cx="4800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Experts from many fields, alumni mentors, and college counselling that starts early enough to shape choices.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HLC International · Karanai, Chennai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MAKE IT REAL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over thirty years: the people, the practices, the care.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FF8EC"/>
          </a:solidFill>
          <a:ln w="15240">
            <a:solidFill>
              <a:srgbClr val="E6DCC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09928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Adults who know every child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2316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teachers and an aayah in each KG class; two facilitators in every class through Grade 7.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97680" y="150876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FF8EC"/>
          </a:solidFill>
          <a:ln w="15240">
            <a:solidFill>
              <a:srgbClr val="E6DCC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0" y="1709928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without fear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242316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marks announced or compared, no punishments, feedback on the behaviour, never the child.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46720" y="150876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FF8EC"/>
          </a:solidFill>
          <a:ln w="15240">
            <a:solidFill>
              <a:srgbClr val="E6DCC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21040" y="1709928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Inclusion from day one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321040" y="242316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with different needs learn together, with specialist support built in.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79476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FF8EC"/>
          </a:solidFill>
          <a:ln w="15240">
            <a:solidFill>
              <a:srgbClr val="E6DCC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3995928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Teachers of real distinction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70916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Including a President’s Award–winning teacher — recognised at the highest level in India.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297680" y="379476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FF8EC"/>
          </a:solidFill>
          <a:ln w="15240">
            <a:solidFill>
              <a:srgbClr val="E6DCC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0" y="3995928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by doing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0" y="470916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Farming, music, art, exhibitions and enterprise woven into the week, not squeezed in at the end.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046720" y="379476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FF8EC"/>
          </a:solidFill>
          <a:ln w="15240">
            <a:solidFill>
              <a:srgbClr val="E6DCC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321040" y="3995928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Families as partners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8321040" y="470916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named contact, regular updates, and every concern followed through in writing.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HLC International · Karanai, Chennai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8E5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CHILD CAN SHOW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just at the end of Grade 12 — at every stage.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1556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ask deliberately what each child should be able to show, and we look for it.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397764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Academically capable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F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Personally grounded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Purposefully directed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9C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F4E79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By the end of UKG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Loves stories, counts and sorts with confidence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Settled, happy, runs in each morning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 tried music, farming, art, play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F4E79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By Grade 3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Reads with understanding, and for pleasure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Speaks up and presents their own work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can name what lights them up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F4E79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By IGCSE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Sits a public exam set by Cambridge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 led something real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 chosen their own subjects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F4E79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By Grade 12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Ready for universities in India or abroad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Grounded, responsible, able to lead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Knows where they want to go, and why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HLC International · Karanai, Chennai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OUR STUDENTS GO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Different paths. The same three promises.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2F7FC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29%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965960" y="14630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abroad, across 11 countries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4297680" y="13258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4CAF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60%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715000" y="14630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 a path beyond engineering or medicine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8046720" y="13258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9464040" y="14630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undergraduate courses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194560"/>
            <a:ext cx="2670048" cy="3566160"/>
          </a:xfrm>
          <a:prstGeom prst="roundRect">
            <a:avLst>
              <a:gd name="adj" fmla="val 3425"/>
            </a:avLst>
          </a:prstGeom>
          <a:solidFill>
            <a:srgbClr val="FFF8EC"/>
          </a:solidFill>
          <a:ln w="15240">
            <a:solidFill>
              <a:srgbClr val="2F7FC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194560"/>
            <a:ext cx="2670048" cy="502920"/>
          </a:xfrm>
          <a:prstGeom prst="rect">
            <a:avLst/>
          </a:prstGeom>
          <a:solidFill>
            <a:srgbClr val="2F7FC1"/>
          </a:solidFill>
          <a:ln w="12700">
            <a:solidFill>
              <a:srgbClr val="2F7FC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2304288"/>
            <a:ext cx="267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2926080"/>
            <a:ext cx="22128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Purdue PhD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3749040"/>
            <a:ext cx="22128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Studied how Earth’s oceans shaped the air we breathe. A NASA FINESST Fellow.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355848" y="2194560"/>
            <a:ext cx="2670048" cy="3566160"/>
          </a:xfrm>
          <a:prstGeom prst="roundRect">
            <a:avLst>
              <a:gd name="adj" fmla="val 3425"/>
            </a:avLst>
          </a:prstGeom>
          <a:solidFill>
            <a:srgbClr val="FFF8EC"/>
          </a:solidFill>
          <a:ln w="15240">
            <a:solidFill>
              <a:srgbClr val="E9567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55848" y="2194560"/>
            <a:ext cx="2670048" cy="502920"/>
          </a:xfrm>
          <a:prstGeom prst="rect">
            <a:avLst/>
          </a:prstGeom>
          <a:solidFill>
            <a:srgbClr val="E9567B"/>
          </a:solidFill>
          <a:ln w="12700">
            <a:solidFill>
              <a:srgbClr val="E9567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355848" y="2304288"/>
            <a:ext cx="267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584448" y="2926080"/>
            <a:ext cx="22128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Fashion design at NIFT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3584448" y="3749040"/>
            <a:ext cx="22128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Turned a love of making into one of India’s leading design schools.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163056" y="2194560"/>
            <a:ext cx="2670048" cy="3566160"/>
          </a:xfrm>
          <a:prstGeom prst="roundRect">
            <a:avLst>
              <a:gd name="adj" fmla="val 3425"/>
            </a:avLst>
          </a:prstGeom>
          <a:solidFill>
            <a:srgbClr val="FFF8EC"/>
          </a:solidFill>
          <a:ln w="15240">
            <a:solidFill>
              <a:srgbClr val="4CAF5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63056" y="2194560"/>
            <a:ext cx="2670048" cy="50292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163056" y="2304288"/>
            <a:ext cx="267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391656" y="2926080"/>
            <a:ext cx="22128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Investment banking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6391656" y="3749040"/>
            <a:ext cx="22128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University of Manchester graduate, now a Graduate Analyst at Santander.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8970264" y="2194560"/>
            <a:ext cx="2670048" cy="3566160"/>
          </a:xfrm>
          <a:prstGeom prst="roundRect">
            <a:avLst>
              <a:gd name="adj" fmla="val 3425"/>
            </a:avLst>
          </a:prstGeom>
          <a:solidFill>
            <a:srgbClr val="FFF8EC"/>
          </a:solidFill>
          <a:ln w="15240">
            <a:solidFill>
              <a:srgbClr val="F39C1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970264" y="2194560"/>
            <a:ext cx="2670048" cy="50292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970264" y="2304288"/>
            <a:ext cx="267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9198864" y="2926080"/>
            <a:ext cx="22128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Founder and CEO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9198864" y="3749040"/>
            <a:ext cx="22128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AuxoHub, helping social-sector organisations put impact first.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among our alumni: Imperial College London, NUS, the University of Michigan, Georgia Tech, Sciences Po, Ashoka, BITS Pilani and many more.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HLC International · Karanai, Chennai   ·   From HLC alumni records, 2012–2026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8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956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ALUMNI WHO COME BACK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Nobody can say “this works” like someone who was once that child.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1556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alumni — researchers, designers, entrepreneurs, engineers, athletes — return to every stage of the school.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5240">
            <a:solidFill>
              <a:srgbClr val="F6C1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057400"/>
            <a:ext cx="502920" cy="502920"/>
          </a:xfrm>
          <a:prstGeom prst="ellipse">
            <a:avLst/>
          </a:prstGeom>
          <a:solidFill>
            <a:srgbClr val="F6C12B"/>
          </a:solidFill>
          <a:ln w="12700">
            <a:solidFill>
              <a:srgbClr val="F6C1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7432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parents of young children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56616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learning through play and care actually grows into, years later.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97680" y="182880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5240">
            <a:solidFill>
              <a:srgbClr val="2F7FC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2057400"/>
            <a:ext cx="502920" cy="502920"/>
          </a:xfrm>
          <a:prstGeom prst="ellipse">
            <a:avLst/>
          </a:prstGeom>
          <a:solidFill>
            <a:srgbClr val="2F7FC1"/>
          </a:solidFill>
          <a:ln w="12700">
            <a:solidFill>
              <a:srgbClr val="2F7FC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0" y="27432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middle schoolers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356616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talk about the years they found hardest: finding a voice, choosing subjects, taking responsibility.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46720" y="182880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5240">
            <a:solidFill>
              <a:srgbClr val="1F4E7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21040" y="2057400"/>
            <a:ext cx="502920" cy="50292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27432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high schoolers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356616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windows into their fields and their lives after HLC, alongside experts and college counselling.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669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E956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proof of the three promises is not on a certificate. It walks back through our gate.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188720"/>
            <a:ext cx="731520" cy="685800"/>
          </a:xfrm>
          <a:prstGeom prst="star5">
            <a:avLst/>
          </a:prstGeom>
          <a:solidFill>
            <a:srgbClr val="F6C12B"/>
          </a:solidFill>
          <a:ln w="12700">
            <a:solidFill>
              <a:srgbClr val="E0A8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1031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roads have changed.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i="1" dirty="0">
                <a:solidFill>
                  <a:srgbClr val="F6C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Raise them to find their own way.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1148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D6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simply helping a child reach a good college — but helping them carry enough of themselves beyond it to build a life they actually chose.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760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HLC International  ·  Curious learners. Mindful leaders.  ·  Karanai, Chennai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1638</Words>
  <Application>Microsoft Office PowerPoint</Application>
  <PresentationFormat>Widescreen</PresentationFormat>
  <Paragraphs>202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HLC International</dc:title>
  <dc:subject>PptxGenJS Presentation</dc:subject>
  <dc:creator>PptxGenJS</dc:creator>
  <cp:lastModifiedBy>Ravi Radhakrishnan</cp:lastModifiedBy>
  <cp:revision>1</cp:revision>
  <dcterms:created xsi:type="dcterms:W3CDTF">2026-10-06T08:18:44Z</dcterms:created>
  <dcterms:modified xsi:type="dcterms:W3CDTF">2026-10-06T08:21:46Z</dcterms:modified>
</cp:coreProperties>
</file>