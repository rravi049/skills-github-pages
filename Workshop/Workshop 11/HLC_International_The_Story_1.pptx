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594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77240" cy="73152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International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Curious learners. Mindful leaders.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years of one idea: that every child can grow into an adult who knows how to learn, knows who they are, and knows where they want to go.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5074920"/>
            <a:ext cx="365760" cy="3657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5074920"/>
            <a:ext cx="365760" cy="3657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5074920"/>
            <a:ext cx="365760" cy="36576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Karanai, Chennai  ·  KG to Grade 12  ·  Cambridge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HLC story, in five parts.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leads to the next — from why we exist to where our students 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39696" cy="3840480"/>
          </a:xfrm>
          <a:prstGeom prst="roundRect">
            <a:avLst>
              <a:gd name="adj" fmla="val 4274"/>
            </a:avLst>
          </a:prstGeom>
          <a:solidFill>
            <a:srgbClr val="FFF8EC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103120"/>
            <a:ext cx="1005840" cy="10058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pic>
        <p:nvPicPr>
          <p:cNvPr id="7" name="Image 0" descr="/home/claude/icons/FaGlobeAs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970" y="234452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2918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F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6118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do what we do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3484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our children are walking into has changed.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2642616" y="3520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2779776" y="1828800"/>
            <a:ext cx="2139696" cy="3840480"/>
          </a:xfrm>
          <a:prstGeom prst="roundRect">
            <a:avLst>
              <a:gd name="adj" fmla="val 4274"/>
            </a:avLst>
          </a:prstGeom>
          <a:solidFill>
            <a:srgbClr val="FFF8EC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46704" y="2103120"/>
            <a:ext cx="1005840" cy="10058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14" name="Image 1" descr="/home/claude/icons/Fa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106" y="2344522"/>
            <a:ext cx="523037" cy="52303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779776" y="32918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916936" y="36118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stand for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962656" y="443484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promises for every child who leaves HLC.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4873752" y="3520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5010912" y="1828800"/>
            <a:ext cx="2139696" cy="3840480"/>
          </a:xfrm>
          <a:prstGeom prst="roundRect">
            <a:avLst>
              <a:gd name="adj" fmla="val 4274"/>
            </a:avLst>
          </a:prstGeom>
          <a:solidFill>
            <a:srgbClr val="FFF8EC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577840" y="2103120"/>
            <a:ext cx="1005840" cy="10058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21" name="Image 2" descr="/home/claude/icons/FaSeed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9242" y="2344522"/>
            <a:ext cx="523037" cy="52303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010912" y="32918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5148072" y="36118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grows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5193792" y="443484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journey, from the early years to high school.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7104888" y="3520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6" name="Shape 21"/>
          <p:cNvSpPr/>
          <p:nvPr/>
        </p:nvSpPr>
        <p:spPr>
          <a:xfrm>
            <a:off x="7242048" y="1828800"/>
            <a:ext cx="2139696" cy="3840480"/>
          </a:xfrm>
          <a:prstGeom prst="roundRect">
            <a:avLst>
              <a:gd name="adj" fmla="val 4274"/>
            </a:avLst>
          </a:prstGeom>
          <a:solidFill>
            <a:srgbClr val="FFF8EC"/>
          </a:solidFill>
          <a:ln w="15240">
            <a:solidFill>
              <a:srgbClr val="E9567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808976" y="2103120"/>
            <a:ext cx="1005840" cy="100584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pic>
        <p:nvPicPr>
          <p:cNvPr id="28" name="Image 3" descr="/home/claude/icons/FaToo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0378" y="2344522"/>
            <a:ext cx="523037" cy="52303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242048" y="32918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7379208" y="36118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make it real</a:t>
            </a:r>
            <a:endParaRPr lang="en-US" sz="1700" dirty="0"/>
          </a:p>
        </p:txBody>
      </p:sp>
      <p:sp>
        <p:nvSpPr>
          <p:cNvPr id="31" name="Text 25"/>
          <p:cNvSpPr txBox="1"/>
          <p:nvPr/>
        </p:nvSpPr>
        <p:spPr>
          <a:xfrm>
            <a:off x="7424928" y="443484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people, practices and care built over thirty years.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9336024" y="3520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3" name="Shape 27"/>
          <p:cNvSpPr/>
          <p:nvPr/>
        </p:nvSpPr>
        <p:spPr>
          <a:xfrm>
            <a:off x="9473184" y="1828800"/>
            <a:ext cx="2139696" cy="3840480"/>
          </a:xfrm>
          <a:prstGeom prst="roundRect">
            <a:avLst>
              <a:gd name="adj" fmla="val 4274"/>
            </a:avLst>
          </a:prstGeom>
          <a:solidFill>
            <a:srgbClr val="FFF8EC"/>
          </a:solidFill>
          <a:ln w="15240">
            <a:solidFill>
              <a:srgbClr val="8E5BA8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0040112" y="2103120"/>
            <a:ext cx="1005840" cy="1005840"/>
          </a:xfrm>
          <a:prstGeom prst="ellipse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pic>
        <p:nvPicPr>
          <p:cNvPr id="35" name="Image 4" descr="/home/claude/icons/FaR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1514" y="2344522"/>
            <a:ext cx="523037" cy="52303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473184" y="329184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E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9610344" y="36118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leads</a:t>
            </a:r>
            <a:endParaRPr lang="en-US" sz="17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443484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children can show — and where our students go.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DO WHAT WE 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our children are walking into has changed.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most of us grew up with was simple. It no longer goes where it used to.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LINE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15240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school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1214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196596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15240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marks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1214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EDEDED"/>
          </a:solidFill>
          <a:ln w="1524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college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21214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915400" y="196596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1540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job?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6F6F6"/>
          </a:solidFill>
          <a:ln w="1524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pic>
        <p:nvPicPr>
          <p:cNvPr id="19" name="Image 0" descr="/home/claude/icons/FaUser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275381"/>
            <a:ext cx="261518" cy="26151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463040" y="3218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queues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3703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employers take far fewer graduates straight off campus than they once did. A degree still opens doors, but it no longer guarantees a place in line.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97680" y="301752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6F6F6"/>
          </a:solidFill>
          <a:ln w="15240">
            <a:solidFill>
              <a:srgbClr val="DDDD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3154680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24" name="Image 1" descr="/home/claude/icons/FaMapMarked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701" y="3275381"/>
            <a:ext cx="261518" cy="26151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12080" y="3218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wider map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0" y="3703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sport, aviation, hospitality, media, research, starting something of your own — respected paths that barely existed a generation ago.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046720" y="301752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6F6F6"/>
          </a:solidFill>
          <a:ln w="15240">
            <a:solidFill>
              <a:srgbClr val="DDDDD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321040" y="315468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29" name="Image 2" descr="/home/claude/icons/Fa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741" y="3275381"/>
            <a:ext cx="261518" cy="26151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961120" y="3218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ask</a:t>
            </a:r>
            <a:endParaRPr lang="en-US" sz="1900" dirty="0"/>
          </a:p>
        </p:txBody>
      </p:sp>
      <p:sp>
        <p:nvSpPr>
          <p:cNvPr id="31" name="Text 26"/>
          <p:cNvSpPr txBox="1"/>
          <p:nvPr/>
        </p:nvSpPr>
        <p:spPr>
          <a:xfrm>
            <a:off x="8321040" y="37033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now rewards people who can take initiative, solve problems, work with others and lead — not only those who can recall what they know.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Academics have not become less important. They have become not enough on their own.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HLC STANDS FOR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promises for every child who leaves HLC.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three programmes — three ways of asking whether an HLC education is doing its job.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8EC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pic>
        <p:nvPicPr>
          <p:cNvPr id="7" name="Image 0" descr="/home/claude/icons/FaBook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1872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Academically capable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know how to learn, have strong foundations, and meet real academic demands.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8EC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011680"/>
            <a:ext cx="731520" cy="7315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2" name="Image 1" descr="/home/claude/icons/Fa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565" y="218724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Personally grounded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83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know themselves, relate well to others, and handle challenge with growing responsibility.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7830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8EC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201168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17" name="Image 2" descr="/home/claude/icons/FaComp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605" y="218724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Purposefully directed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383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seen enough of the world to recognise what draws them, and choose where to go.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inseparable. Strong academics with no compromise, a child who is grounded, and a direction that is genuinely their own.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promises grow with the child — one school, KG to Grade 12.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its own work, and each builds on the last.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39696" cy="777240"/>
          </a:xfrm>
          <a:prstGeom prst="chevron">
            <a:avLst/>
          </a:prstGeom>
          <a:solidFill>
            <a:srgbClr val="F6C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years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677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LKG · UKG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956816" cy="1920240"/>
          </a:xfrm>
          <a:prstGeom prst="roundRect">
            <a:avLst>
              <a:gd name="adj" fmla="val 4762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8448" y="2971800"/>
            <a:ext cx="640080" cy="640080"/>
          </a:xfrm>
          <a:prstGeom prst="ellipse">
            <a:avLst/>
          </a:prstGeom>
          <a:solidFill>
            <a:srgbClr val="F6C12B"/>
          </a:solidFill>
          <a:ln w="12700">
            <a:solidFill>
              <a:srgbClr val="F6C12B"/>
            </a:solidFill>
            <a:prstDash val="solid"/>
          </a:ln>
        </p:spPr>
      </p:sp>
      <p:pic>
        <p:nvPicPr>
          <p:cNvPr id="10" name="Image 0" descr="/home/claude/icons/FaCh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067" y="312541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37490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cared for, and in love with learning.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79776" y="1828800"/>
            <a:ext cx="2139696" cy="777240"/>
          </a:xfrm>
          <a:prstGeom prst="chevron">
            <a:avLst/>
          </a:prstGeom>
          <a:solidFill>
            <a:srgbClr val="E956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54096" y="19202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054096" y="22677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step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871216" y="2834640"/>
            <a:ext cx="1956816" cy="1920240"/>
          </a:xfrm>
          <a:prstGeom prst="roundRect">
            <a:avLst>
              <a:gd name="adj" fmla="val 4762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9584" y="2971800"/>
            <a:ext cx="640080" cy="64008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pic>
        <p:nvPicPr>
          <p:cNvPr id="17" name="Image 1" descr="/home/claude/icons/FaSch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203" y="312541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008376" y="37490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school begins, with all the warmth of KG.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010912" y="1828800"/>
            <a:ext cx="2139696" cy="777240"/>
          </a:xfrm>
          <a:prstGeom prst="chevron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285232" y="19202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5285232" y="22677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2–5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102352" y="2834640"/>
            <a:ext cx="1956816" cy="1920240"/>
          </a:xfrm>
          <a:prstGeom prst="roundRect">
            <a:avLst>
              <a:gd name="adj" fmla="val 4762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760720" y="2971800"/>
            <a:ext cx="640080" cy="6400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24" name="Image 2" descr="/home/claude/icons/FaPencil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39" y="3125419"/>
            <a:ext cx="332842" cy="33284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239512" y="37490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by name, learning without fear.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242048" y="1828800"/>
            <a:ext cx="2139696" cy="777240"/>
          </a:xfrm>
          <a:prstGeom prst="chevron">
            <a:avLst/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516368" y="19202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7516368" y="22677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6–9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333488" y="2834640"/>
            <a:ext cx="1956816" cy="1920240"/>
          </a:xfrm>
          <a:prstGeom prst="roundRect">
            <a:avLst>
              <a:gd name="adj" fmla="val 4762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991856" y="2971800"/>
            <a:ext cx="640080" cy="64008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pic>
        <p:nvPicPr>
          <p:cNvPr id="31" name="Image 3" descr="/home/claude/icons/FaUserFrien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475" y="3125419"/>
            <a:ext cx="332842" cy="33284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470648" y="37490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to grow up, and to choose.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9473184" y="1828800"/>
            <a:ext cx="2139696" cy="77724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747504" y="19202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school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9747504" y="226771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10–12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9564624" y="2834640"/>
            <a:ext cx="1956816" cy="1920240"/>
          </a:xfrm>
          <a:prstGeom prst="roundRect">
            <a:avLst>
              <a:gd name="adj" fmla="val 4762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0222992" y="297180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8" name="Image 4" descr="/home/claude/icons/FaGraduationC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6611" y="3125419"/>
            <a:ext cx="332842" cy="33284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701784" y="37490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academics, a direction of their own.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school and one philosophy, all the way through — so nothing a child builds is left behind.</a:t>
            </a:r>
            <a:endParaRPr lang="en-US" sz="1700" dirty="0"/>
          </a:p>
        </p:txBody>
      </p:sp>
      <p:sp>
        <p:nvSpPr>
          <p:cNvPr id="41" name="Text 3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· HLC DISCOVER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child is not starting school. A family is handing over their child.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in LKG and UKG, every promise rests on the one beneath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21528" y="1600200"/>
            <a:ext cx="548640" cy="50292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67048" y="2148840"/>
            <a:ext cx="3657600" cy="932688"/>
          </a:xfrm>
          <a:prstGeom prst="roundRect">
            <a:avLst>
              <a:gd name="adj" fmla="val 9804"/>
            </a:avLst>
          </a:prstGeom>
          <a:solidFill>
            <a:srgbClr val="E9567B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icons/FaSm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368" y="2404872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267048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449928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feels like play — eager for tomorrow.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26968" y="3172968"/>
            <a:ext cx="4937760" cy="932688"/>
          </a:xfrm>
          <a:prstGeom prst="roundRect">
            <a:avLst>
              <a:gd name="adj" fmla="val 9804"/>
            </a:avLst>
          </a:prstGeom>
          <a:solidFill>
            <a:srgbClr val="F39C12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11" name="Image 1" descr="/home/claude/icons/FaBookR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288" y="342900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26968" y="3282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LEARNING, AS IT SHOULD BE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809848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progress you can see.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986888" y="4197096"/>
            <a:ext cx="6217920" cy="932688"/>
          </a:xfrm>
          <a:prstGeom prst="roundRect">
            <a:avLst>
              <a:gd name="adj" fmla="val 9804"/>
            </a:avLst>
          </a:prstGeom>
          <a:solidFill>
            <a:srgbClr val="4CAF50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15" name="Image 2" descr="/home/claude/icons/FaHandHoldingHe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208" y="445312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986888" y="43068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FOR, BODY AND HEART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169768" y="47000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teachers and an aayah in every class.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346808" y="5221224"/>
            <a:ext cx="7498080" cy="932688"/>
          </a:xfrm>
          <a:prstGeom prst="roundRect">
            <a:avLst>
              <a:gd name="adj" fmla="val 9804"/>
            </a:avLst>
          </a:prstGeom>
          <a:solidFill>
            <a:srgbClr val="2F7FC1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19" name="Image 3" descr="/home/claude/icons/FaShield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1128" y="5477256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346808" y="5330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ALWAYS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2529688" y="57241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CCTV, verified staff, one secure entrance.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   ·   HLC Discover — the early years of HLC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step into real school — where two journeys meet.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heart is still holding on. Your head is already looking ahead. Both are right.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FDECF1"/>
          </a:solidFill>
          <a:ln w="15240">
            <a:solidFill>
              <a:srgbClr val="E956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pic>
        <p:nvPicPr>
          <p:cNvPr id="7" name="Image 0" descr="/home/claude/icons/Fa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1973275"/>
            <a:ext cx="213970" cy="21397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someone still hold her hand?”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EAF2FA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pic>
        <p:nvPicPr>
          <p:cNvPr id="12" name="Image 1" descr="/home/claude/icons/FaBinocul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" y="3527755"/>
            <a:ext cx="213970" cy="21397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886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the school for the next twelve years?”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749040" y="2926080"/>
            <a:ext cx="731520" cy="640080"/>
          </a:xfrm>
          <a:prstGeom prst="rightArrow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17720" y="1783080"/>
            <a:ext cx="6995160" cy="2926080"/>
          </a:xfrm>
          <a:prstGeom prst="roundRect">
            <a:avLst>
              <a:gd name="adj" fmla="val 3125"/>
            </a:avLst>
          </a:prstGeom>
          <a:solidFill>
            <a:srgbClr val="F1E8F7"/>
          </a:solidFill>
          <a:ln w="15240">
            <a:solidFill>
              <a:srgbClr val="8E5BA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92040" y="19659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8E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HLC, you don’t have to choose.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256032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school begins — with all the warmth of KG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groups, where every child is known by name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number sense and confidence built first, before early tests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Music, farming, art and making, woven into the week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8EC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" y="5230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Grade 3, you will see it: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reads for pleasure, speaks up, presents her own work to you — and you can name what lights her up.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MIDDLE YEARS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by name. Then trusted to grow up.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stages, one thread: rigour without fear, and a child who stays curious.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FFF8EC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7" name="Image 0" descr="/home/claude/icons/FaPencil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019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190195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· Grades 2–5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974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facilitators in class, so a struggling child is noticed early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are never announced or compared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doing — farming, music, making, projects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from day one; no punishments, the PEACE framework instead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FFF8EC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1783080"/>
            <a:ext cx="5440680" cy="640080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pic>
        <p:nvPicPr>
          <p:cNvPr id="12" name="Image 1" descr="/home/claude/icons/FaUserFri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90195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172200" y="190195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· Grades 6–9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6974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eleven and fourteen, a child starts becoming their own person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with real responsibility: Student Council, events they run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subjects tried in Grade 8 before choosing for IGCSE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 chosen, not assigned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Serious academics — and a life that begins to belong to them.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compromise on rigour. Alongside it, a young person who knows what interests them, and can choose.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8EC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pic>
        <p:nvPicPr>
          <p:cNvPr id="7" name="Image 0" descr="/home/claude/icons/FaClipboard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068373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00253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Rigour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IGCSE and A Levels, set and marked externally. Monthly assessment builds steadily to exam readiness.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8EC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947672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12" name="Image 1" descr="/home/claude/icons/Fa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206837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86600" y="200253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5146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they choose, from a wide range — and honest guidance on every path, including entrance exams.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8EC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09651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7" name="Image 2" descr="/home/claude/icons/Fa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217213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415137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6634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MUN, captaincy, events run by students, real work in the world — so they leave able to lead.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17220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8EC"/>
          </a:solidFill>
          <a:ln w="15240">
            <a:solidFill>
              <a:srgbClr val="E9567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6520" y="4096512"/>
            <a:ext cx="502920" cy="50292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pic>
        <p:nvPicPr>
          <p:cNvPr id="22" name="Image 3" descr="/home/claude/icons/FaUnivers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221" y="4217213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86600" y="415137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Pathways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46634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from many fields, alumni mentors, and college counselling that starts early enough to shape choices.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MAKE IT REAL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over thirty years: the people, the practices, the care.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09928"/>
            <a:ext cx="548640" cy="54864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pic>
        <p:nvPicPr>
          <p:cNvPr id="6" name="Image 0" descr="/home/claude/icons/FaUserFri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184160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099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Adults who know every child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teachers and an aayah in each KG class; two facilitators in every class through Grade 7.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09928"/>
            <a:ext cx="548640" cy="54864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pic>
        <p:nvPicPr>
          <p:cNvPr id="11" name="Image 1" descr="/home/claude/icons/FaSm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74" y="184160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7099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without fear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23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marks announced or compared, no punishments, feedback on the behaviour, never the child.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709928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6" name="Image 2" descr="/home/claude/icons/FaHandsHelp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714" y="184160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7099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Inclusion from day one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23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different needs learn together, with specialist support built in.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3995928"/>
            <a:ext cx="548640" cy="5486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21" name="Image 3" descr="/home/claude/icons/FaMed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412760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9959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 of real distinction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709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 President’s Award–winning teacher — recognised at the highest level in India.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3995928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26" name="Image 4" descr="/home/claude/icons/FaSeedl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74" y="412760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39959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by doing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709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Farming, music, art, exhibitions and enterprise woven into the week, not squeezed in at the end.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8EC"/>
          </a:solidFill>
          <a:ln w="15240">
            <a:solidFill>
              <a:srgbClr val="E6DC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3995928"/>
            <a:ext cx="548640" cy="548640"/>
          </a:xfrm>
          <a:prstGeom prst="ellipse">
            <a:avLst/>
          </a:prstGeom>
          <a:solidFill>
            <a:srgbClr val="8E5BA8"/>
          </a:solidFill>
          <a:ln w="12700">
            <a:solidFill>
              <a:srgbClr val="8E5BA8"/>
            </a:solidFill>
            <a:prstDash val="solid"/>
          </a:ln>
        </p:spPr>
      </p:sp>
      <p:pic>
        <p:nvPicPr>
          <p:cNvPr id="31" name="Image 5" descr="/home/claude/icons/FaHo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2714" y="412760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39959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as partners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709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get to know each child together with their family, and keep you close to their growth.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E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CHILD CAN SHOW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at the end of Grade 12 — at every stage.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 deliberately what each child should be able to show, and we look for it.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977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Academically capable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Personally grounded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Purposefully directed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By the end of UKG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Loves stories, counts and sorts with 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Settled, happy, runs in each morning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tried music, farming, art, 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By Grade 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with understanding, and for pleasure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Speaks up and presents their own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name what lights them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By IGCSE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Sits a public exam set by Cambridge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led something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chosen their own subjects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By Grade 12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for universities in India or abroad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Grounded, responsible, able to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Knows where they want to go, and 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OUR STUDENTS GO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paths. The same three promises.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abroad, across 11 countries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path beyond engineering or medicine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94640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undergraduate courses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8EC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94560"/>
            <a:ext cx="2670048" cy="502920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pic>
        <p:nvPicPr>
          <p:cNvPr id="12" name="Image 0" descr="/home/claude/icons/Fa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3042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9260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Purdue PhD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490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how Earth’s oceans shaped the air we breathe. A NASA FINESST Fellow.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355848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8EC"/>
          </a:solidFill>
          <a:ln w="15240">
            <a:solidFill>
              <a:srgbClr val="E9567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55848" y="2194560"/>
            <a:ext cx="2670048" cy="502920"/>
          </a:xfrm>
          <a:prstGeom prst="rect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pic>
        <p:nvPicPr>
          <p:cNvPr id="18" name="Image 1" descr="/home/claude/icons/FaPal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228600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355848" y="23042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584448" y="29260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design at NIFT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3584448" y="37490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a love of making into one of India’s leading design schools.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163056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8EC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63056" y="2194560"/>
            <a:ext cx="2670048" cy="502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24" name="Image 2" descr="/home/claude/icons/Fa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228600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163056" y="23042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391656" y="29260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banking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6391656" y="37490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of Manchester graduate, now a Graduate Analyst at Santander.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8970264" y="219456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FF8EC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970264" y="2194560"/>
            <a:ext cx="2670048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30" name="Image 3" descr="/home/claude/icons/Fa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144" y="2286000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970264" y="23042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9198864" y="292608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and CEO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9198864" y="374904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AuxoHub, helping social-sector organisations put impact first.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among our alumni: Imperial College London, NUS, the University of Michigan, Georgia Tech, Sciences Po, Ashoka, BITS Pilani and many more.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Karanai, Chennai   ·   From HLC alumni records, 2012–2026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WHO COME 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can say “this works” like someone who was once that child.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alumni — researchers, designers, entrepreneurs, engineers, athletes — return to every stage of the school.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240">
            <a:solidFill>
              <a:srgbClr val="F6C1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F6C12B"/>
          </a:solidFill>
          <a:ln w="12700">
            <a:solidFill>
              <a:srgbClr val="F6C12B"/>
            </a:solidFill>
            <a:prstDash val="solid"/>
          </a:ln>
        </p:spPr>
      </p:sp>
      <p:pic>
        <p:nvPicPr>
          <p:cNvPr id="7" name="Image 0" descr="/home/claude/icons/FaCh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2110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parents of young children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learning through play and care actually grows into, years later.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240">
            <a:solidFill>
              <a:srgbClr val="2F7FC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pic>
        <p:nvPicPr>
          <p:cNvPr id="12" name="Image 1" descr="/home/claude/icons/FaUserFri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619" y="22110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middle schoolers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5661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talk about the years they found hardest: finding a voice, choosing subjects, taking responsibility.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7" name="Image 2" descr="/home/claude/icons/FaGraduation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659" y="221101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high schoolers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5661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windows into their fields and their lives after HLC, alongside experts and college counselling.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 of the three promises is not on a certificate. It walks back through our gate.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731520" cy="68580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roads have changed.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i="1" dirty="0">
                <a:solidFill>
                  <a:srgbClr val="F6C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them to find their own way.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simply helping a child reach a good college — but helping them carry enough of themselves beyond it to build a life they actually chose.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 ·  Curious learners. Mindful leaders.  ·  Karanai, Chennai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1710</Words>
  <Application>Microsoft Office PowerPoint</Application>
  <PresentationFormat>Widescreen</PresentationFormat>
  <Paragraphs>217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HLC International</dc:title>
  <dc:subject>PptxGenJS Presentation</dc:subject>
  <dc:creator>PptxGenJS</dc:creator>
  <cp:lastModifiedBy>Ravi Radhakrishnan</cp:lastModifiedBy>
  <cp:revision>1</cp:revision>
  <dcterms:created xsi:type="dcterms:W3CDTF">2026-10-06T08:29:07Z</dcterms:created>
  <dcterms:modified xsi:type="dcterms:W3CDTF">2026-10-06T08:37:22Z</dcterms:modified>
</cp:coreProperties>
</file>