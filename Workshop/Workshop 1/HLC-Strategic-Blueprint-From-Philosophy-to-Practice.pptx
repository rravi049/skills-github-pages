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embeddedFontLst>
    <p:embeddedFont>
      <p:font typeface="Barlow Bold" panose="020B0604020202020204" charset="0"/>
      <p:regular r:id="rId13"/>
    </p:embeddedFont>
    <p:embeddedFont>
      <p:font typeface="Montserrat" panose="00000500000000000000" pitchFamily="2" charset="0"/>
      <p:regular r:id="rId14"/>
    </p:embeddedFont>
    <p:embeddedFont>
      <p:font typeface="Montserrat Bold" panose="00000800000000000000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17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4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0"/>
            <a:ext cx="360045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3943" y="1515219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HLC Strategic Blueprint — From Belief to Practice</a:t>
            </a:r>
            <a:endParaRPr lang="en-US" sz="2800" dirty="0"/>
          </a:p>
        </p:txBody>
      </p:sp>
      <p:sp>
        <p:nvSpPr>
          <p:cNvPr id="6" name="Text 1"/>
          <p:cNvSpPr/>
          <p:nvPr/>
        </p:nvSpPr>
        <p:spPr>
          <a:xfrm>
            <a:off x="473943" y="2609180"/>
            <a:ext cx="4767114" cy="1019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Workshop: a 6‑month (?) transformation roadmap aligning values, operations and parent experience to secure sustainable growth and deeper impact.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0"/>
            <a:ext cx="360045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3943" y="373856"/>
            <a:ext cx="4767114" cy="793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Where We Stand Today — The Decisions Before Us</a:t>
            </a:r>
            <a:endParaRPr lang="en-US" sz="2450" dirty="0"/>
          </a:p>
        </p:txBody>
      </p:sp>
      <p:sp>
        <p:nvSpPr>
          <p:cNvPr id="6" name="Shape 1"/>
          <p:cNvSpPr/>
          <p:nvPr/>
        </p:nvSpPr>
        <p:spPr>
          <a:xfrm>
            <a:off x="473943" y="1328365"/>
            <a:ext cx="2329830" cy="1243013"/>
          </a:xfrm>
          <a:prstGeom prst="roundRect">
            <a:avLst>
              <a:gd name="adj" fmla="val 14554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599256" y="1453679"/>
            <a:ext cx="2079203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trade-offs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599256" y="1716509"/>
            <a:ext cx="2079203" cy="547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financial choice signals values: investment in people, place, or positioning.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2911153" y="1328365"/>
            <a:ext cx="2329904" cy="1243013"/>
          </a:xfrm>
          <a:prstGeom prst="roundRect">
            <a:avLst>
              <a:gd name="adj" fmla="val 14554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036466" y="1453679"/>
            <a:ext cx="2079278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Highlighted options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036466" y="1716509"/>
            <a:ext cx="2079278" cy="729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Teacher salary +15% (₹2–3Cr/year); Fee increase 20–25% (~₹8–12Cr/year); Move to owned land (₹15–20Cr).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73943" y="2678757"/>
            <a:ext cx="4767114" cy="878235"/>
          </a:xfrm>
          <a:prstGeom prst="roundRect">
            <a:avLst>
              <a:gd name="adj" fmla="val 2059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99256" y="2804071"/>
            <a:ext cx="4516487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Smaller but meaningful moves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99256" y="3066901"/>
            <a:ext cx="4516487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One‑time facility maintenance (₹50L); recurring maintenance (₹5L/year); value illustration campaign.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73943" y="3677766"/>
            <a:ext cx="4767114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highlight>
                  <a:srgbClr val="E5F6FF"/>
                </a:highlight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Unspoken question: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Are these financial moves—or philosophical statements in disguise?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4844" y="4284092"/>
            <a:ext cx="4586213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"Every spreadsheet decision is actually a values decision wearing a different suit."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73943" y="4163318"/>
            <a:ext cx="14288" cy="606326"/>
          </a:xfrm>
          <a:prstGeom prst="roundRect">
            <a:avLst>
              <a:gd name="adj" fmla="val 49998"/>
            </a:avLst>
          </a:prstGeom>
          <a:solidFill>
            <a:srgbClr val="75BAE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93502"/>
            <a:ext cx="8196114" cy="33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Let's Decide What Comes First — Options &amp; Immediate Next Steps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73943" y="879946"/>
            <a:ext cx="228451" cy="2284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8520" y="914846"/>
            <a:ext cx="7891537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Fee Increase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8520" y="1127596"/>
            <a:ext cx="789153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storytelling + visible upgrades. First step: map 12 demonstrable value points before announcement.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73943" y="1422127"/>
            <a:ext cx="228451" cy="2284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8520" y="1457027"/>
            <a:ext cx="7891537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Bottom 5% Process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8520" y="1669777"/>
            <a:ext cx="789153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clear, compassionate criteria. First step: define "fit" metrics and train counselors.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73943" y="1964308"/>
            <a:ext cx="228451" cy="2284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8520" y="1999208"/>
            <a:ext cx="7891537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Parent‑as‑Advocate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8520" y="2211958"/>
            <a:ext cx="789153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Pride &amp; referral mechanics. First step: create ambassador programme with recognition structure.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3943" y="2506489"/>
            <a:ext cx="228451" cy="2284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8520" y="2541389"/>
            <a:ext cx="7891537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Teacher Salary Increase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8520" y="2754139"/>
            <a:ext cx="789153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budget + rollout; announce and link to retention metrics.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3943" y="3048670"/>
            <a:ext cx="228451" cy="2284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8520" y="3083570"/>
            <a:ext cx="7891537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Facility Maintenance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8520" y="3296320"/>
            <a:ext cx="789153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Vendor selection + timeline; approve ₹50L one‑time allocation this week.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73943" y="3590851"/>
            <a:ext cx="228451" cy="228451"/>
          </a:xfrm>
          <a:prstGeom prst="ellipse">
            <a:avLst/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8520" y="3625751"/>
            <a:ext cx="7891537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Land Acquisition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8520" y="3838501"/>
            <a:ext cx="789153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Deferred to Month 6 — review with full financial picture and legal due diligence.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6269" y="4522068"/>
            <a:ext cx="8500988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"Clarity precedes commitment. Let's leave here owning our choices."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3943" y="4436418"/>
            <a:ext cx="14288" cy="313506"/>
          </a:xfrm>
          <a:prstGeom prst="roundRect">
            <a:avLst>
              <a:gd name="adj" fmla="val 49998"/>
            </a:avLst>
          </a:prstGeom>
          <a:solidFill>
            <a:srgbClr val="75BAE6"/>
          </a:solidFill>
          <a:ln/>
        </p:spPr>
      </p:sp>
    </p:spTree>
    <p:extLst>
      <p:ext uri="{BB962C8B-B14F-4D97-AF65-F5344CB8AC3E}">
        <p14:creationId xmlns:p14="http://schemas.microsoft.com/office/powerpoint/2010/main" val="855880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1008831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Story We're Trying to Tell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725067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HLC belief: Curious learners become mindful leaders through everyday inquiry, social responsibility and holistic practice — not only isolated academic milestones.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2310780"/>
            <a:ext cx="1163836" cy="1454795"/>
          </a:xfrm>
          <a:prstGeom prst="roundRect">
            <a:avLst>
              <a:gd name="adj" fmla="val 17453"/>
            </a:avLst>
          </a:prstGeom>
          <a:solidFill>
            <a:srgbClr val="DFDF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24" y="2844626"/>
            <a:ext cx="142875" cy="142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943" y="3055367"/>
            <a:ext cx="11638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7" name="Text 4"/>
          <p:cNvSpPr/>
          <p:nvPr/>
        </p:nvSpPr>
        <p:spPr>
          <a:xfrm>
            <a:off x="1806997" y="2310780"/>
            <a:ext cx="268039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Inclusion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06997" y="2614613"/>
            <a:ext cx="268039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 seats for economically backward learners + 10% for differently‑abled learners; integrated, not separate.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56609" y="2310780"/>
            <a:ext cx="1163836" cy="1454795"/>
          </a:xfrm>
          <a:prstGeom prst="roundRect">
            <a:avLst>
              <a:gd name="adj" fmla="val 17453"/>
            </a:avLst>
          </a:prstGeom>
          <a:solidFill>
            <a:srgbClr val="DFDFE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089" y="2844626"/>
            <a:ext cx="142875" cy="142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6609" y="3055367"/>
            <a:ext cx="11638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12" name="Text 8"/>
          <p:cNvSpPr/>
          <p:nvPr/>
        </p:nvSpPr>
        <p:spPr>
          <a:xfrm>
            <a:off x="5989662" y="2310780"/>
            <a:ext cx="268039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Balance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989662" y="2614613"/>
            <a:ext cx="268039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Cambridge rigour balanced with life skills, sports and arts to build EQ, agency and character.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3943" y="3917900"/>
            <a:ext cx="7579811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Tension: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Fund sustainably while preserving access and quality. The answer begins with clarity.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0"/>
            <a:ext cx="360045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73943" y="990898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Seeing Ourselves Through Their Eyes</a:t>
            </a:r>
            <a:endParaRPr lang="en-US" sz="2800" dirty="0"/>
          </a:p>
        </p:txBody>
      </p:sp>
      <p:sp>
        <p:nvSpPr>
          <p:cNvPr id="6" name="Text 1"/>
          <p:cNvSpPr/>
          <p:nvPr/>
        </p:nvSpPr>
        <p:spPr>
          <a:xfrm>
            <a:off x="473943" y="2220218"/>
            <a:ext cx="22183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Inside‑Out (Operations)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473943" y="2578224"/>
            <a:ext cx="221835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organise: efficiency, control, sustainability — ten core functions.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3027462" y="2220218"/>
            <a:ext cx="22183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Outside‑In (Experience)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027462" y="2578224"/>
            <a:ext cx="221835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feels: trust, relationship, visible outcomes — what families actually pay for.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73943" y="3502447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Critical insight: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school can be operationally excellent yet fail at delivering the perceived experience. Align metrics to what parents weigh in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02943" y="373410"/>
            <a:ext cx="4767114" cy="876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Map That Guides Us — 180 Decision Points</a:t>
            </a:r>
            <a:endParaRPr lang="en-US" sz="2750" dirty="0"/>
          </a:p>
        </p:txBody>
      </p:sp>
      <p:sp>
        <p:nvSpPr>
          <p:cNvPr id="6" name="Text 1"/>
          <p:cNvSpPr/>
          <p:nvPr/>
        </p:nvSpPr>
        <p:spPr>
          <a:xfrm>
            <a:off x="3902943" y="1447056"/>
            <a:ext cx="476711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perspectives × 10 parameters × 3 factor types = 180 decision factors across Strategic, Tactical and Operational layers.</a:t>
            </a:r>
            <a:endParaRPr lang="en-US" sz="10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2943" y="2017737"/>
            <a:ext cx="4767114" cy="218167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394886" y="2343903"/>
            <a:ext cx="1109983" cy="13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Operational</a:t>
            </a:r>
            <a:endParaRPr lang="en-US" sz="850" dirty="0"/>
          </a:p>
        </p:txBody>
      </p:sp>
      <p:sp>
        <p:nvSpPr>
          <p:cNvPr id="9" name="Text 3"/>
          <p:cNvSpPr/>
          <p:nvPr/>
        </p:nvSpPr>
        <p:spPr>
          <a:xfrm>
            <a:off x="7394886" y="2520173"/>
            <a:ext cx="1162345" cy="104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actions and execution</a:t>
            </a:r>
            <a:endParaRPr lang="en-US" sz="650" dirty="0"/>
          </a:p>
        </p:txBody>
      </p:sp>
      <p:sp>
        <p:nvSpPr>
          <p:cNvPr id="10" name="Text 4"/>
          <p:cNvSpPr/>
          <p:nvPr/>
        </p:nvSpPr>
        <p:spPr>
          <a:xfrm>
            <a:off x="4015651" y="3008706"/>
            <a:ext cx="1068607" cy="138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Tactical</a:t>
            </a:r>
            <a:endParaRPr lang="en-US" sz="850" dirty="0"/>
          </a:p>
        </p:txBody>
      </p:sp>
      <p:sp>
        <p:nvSpPr>
          <p:cNvPr id="11" name="Text 5"/>
          <p:cNvSpPr/>
          <p:nvPr/>
        </p:nvSpPr>
        <p:spPr>
          <a:xfrm>
            <a:off x="4015651" y="3184977"/>
            <a:ext cx="1068607" cy="209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3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Quarterly planning and milestones</a:t>
            </a:r>
            <a:endParaRPr lang="en-US" sz="650" dirty="0"/>
          </a:p>
        </p:txBody>
      </p:sp>
      <p:sp>
        <p:nvSpPr>
          <p:cNvPr id="12" name="Text 6"/>
          <p:cNvSpPr/>
          <p:nvPr/>
        </p:nvSpPr>
        <p:spPr>
          <a:xfrm>
            <a:off x="7394886" y="3378969"/>
            <a:ext cx="1109983" cy="138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7394886" y="3555240"/>
            <a:ext cx="1162345" cy="209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3–5 years, vision and priorities</a:t>
            </a:r>
            <a:endParaRPr lang="en-US" sz="650" dirty="0"/>
          </a:p>
        </p:txBody>
      </p:sp>
      <p:sp>
        <p:nvSpPr>
          <p:cNvPr id="14" name="Text 8"/>
          <p:cNvSpPr/>
          <p:nvPr/>
        </p:nvSpPr>
        <p:spPr>
          <a:xfrm>
            <a:off x="3902943" y="4346972"/>
            <a:ext cx="476711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matters: most schools live tactically while hoping strategically. This framework forces coexistence and accountability across horizons.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4005"/>
            <a:ext cx="8196114" cy="43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We Organise — Inside‑Out Parameters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36488" y="2226841"/>
            <a:ext cx="2361233" cy="1311771"/>
          </a:xfrm>
          <a:prstGeom prst="roundRect">
            <a:avLst>
              <a:gd name="adj" fmla="val 15001"/>
            </a:avLst>
          </a:prstGeom>
          <a:solidFill>
            <a:srgbClr val="DFDFE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630" y="2745060"/>
            <a:ext cx="142875" cy="1428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0510" y="2952229"/>
            <a:ext cx="1833190" cy="104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was an error generating this image</a:t>
            </a:r>
            <a:endParaRPr lang="en-US" sz="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5084" y="1138982"/>
            <a:ext cx="327943" cy="327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1826" y="1138982"/>
            <a:ext cx="4302919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Philosophy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371826" y="1481807"/>
            <a:ext cx="4302919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Mission alignment with parents aspirations.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5084" y="1942505"/>
            <a:ext cx="327943" cy="3279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71826" y="1942505"/>
            <a:ext cx="4302919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371826" y="2285330"/>
            <a:ext cx="4302919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 structure, scholarships, endowment planning.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5084" y="2746028"/>
            <a:ext cx="327943" cy="3279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71826" y="2746028"/>
            <a:ext cx="4302919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Marketing &amp; Sales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371826" y="3088853"/>
            <a:ext cx="4302919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Authentic messaging to aligned families.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5084" y="3549551"/>
            <a:ext cx="327943" cy="3279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71826" y="3549551"/>
            <a:ext cx="4302919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HR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371826" y="3892376"/>
            <a:ext cx="4302919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Recruitment, retention and professional development.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3885084" y="4241899"/>
            <a:ext cx="4789661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Discussion prompt:</a:t>
            </a: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Which 3 parameters have the largest execution gap?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76957"/>
            <a:ext cx="8196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They Experience Every Day — Outside‑In Parameters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73943" y="1938635"/>
            <a:ext cx="1152451" cy="1152451"/>
          </a:xfrm>
          <a:prstGeom prst="roundRect">
            <a:avLst>
              <a:gd name="adj" fmla="val 17625"/>
            </a:avLst>
          </a:prstGeom>
          <a:solidFill>
            <a:srgbClr val="DFDFE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694" y="2321272"/>
            <a:ext cx="142875" cy="1428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2532013"/>
            <a:ext cx="11524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6" name="Text 3"/>
          <p:cNvSpPr/>
          <p:nvPr/>
        </p:nvSpPr>
        <p:spPr>
          <a:xfrm>
            <a:off x="473943" y="3260303"/>
            <a:ext cx="261922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Vision &amp; Promise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3943" y="3564136"/>
            <a:ext cx="261922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the school walk its talk?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62387" y="1938635"/>
            <a:ext cx="1152451" cy="1152451"/>
          </a:xfrm>
          <a:prstGeom prst="roundRect">
            <a:avLst>
              <a:gd name="adj" fmla="val 17625"/>
            </a:avLst>
          </a:prstGeom>
          <a:solidFill>
            <a:srgbClr val="DFDFE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137" y="2321272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62387" y="2532013"/>
            <a:ext cx="11524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11" name="Text 7"/>
          <p:cNvSpPr/>
          <p:nvPr/>
        </p:nvSpPr>
        <p:spPr>
          <a:xfrm>
            <a:off x="3262387" y="3260303"/>
            <a:ext cx="261922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Learning Environment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62387" y="3564136"/>
            <a:ext cx="261922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the school have what my child needs?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50831" y="1938635"/>
            <a:ext cx="1152451" cy="1152451"/>
          </a:xfrm>
          <a:prstGeom prst="roundRect">
            <a:avLst>
              <a:gd name="adj" fmla="val 17625"/>
            </a:avLst>
          </a:prstGeom>
          <a:solidFill>
            <a:srgbClr val="DFDFE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581" y="2321272"/>
            <a:ext cx="142875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50831" y="2532013"/>
            <a:ext cx="11524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500" dirty="0">
                <a:solidFill>
                  <a:srgbClr val="AEAE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was an error generating this image</a:t>
            </a:r>
            <a:endParaRPr lang="en-US" sz="500" dirty="0"/>
          </a:p>
        </p:txBody>
      </p:sp>
      <p:sp>
        <p:nvSpPr>
          <p:cNvPr id="16" name="Text 11"/>
          <p:cNvSpPr/>
          <p:nvPr/>
        </p:nvSpPr>
        <p:spPr>
          <a:xfrm>
            <a:off x="6050831" y="3260303"/>
            <a:ext cx="261922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Communication &amp; Partnership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050831" y="3564136"/>
            <a:ext cx="2619226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Will we be informed and heard?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73943" y="4149849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Discussion prompt:</a:t>
            </a: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Which 3 experiences, if strengthened, would most influence enrolment decisions?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02943" y="514573"/>
            <a:ext cx="4767114" cy="793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When Operational Excellence Becomes Visible Value</a:t>
            </a:r>
            <a:endParaRPr lang="en-US" sz="2450" dirty="0"/>
          </a:p>
        </p:txBody>
      </p:sp>
      <p:sp>
        <p:nvSpPr>
          <p:cNvPr id="6" name="Text 1"/>
          <p:cNvSpPr/>
          <p:nvPr/>
        </p:nvSpPr>
        <p:spPr>
          <a:xfrm>
            <a:off x="3902943" y="1469082"/>
            <a:ext cx="4767114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alignment test: for each Inside‑Out function, ask — how does this directly shape parent perception?</a:t>
            </a:r>
            <a:endParaRPr lang="en-US" sz="9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2943" y="1954634"/>
            <a:ext cx="1517452" cy="2188741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9338" y="2063130"/>
            <a:ext cx="144661" cy="144661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4037781" y="2436986"/>
            <a:ext cx="1247775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Finance → Value &amp; Affordability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4037781" y="2898204"/>
            <a:ext cx="1247775" cy="1094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 increases require visible, communicated improvements to feel like value, not extraction.</a:t>
            </a:r>
            <a:endParaRPr lang="en-US" sz="9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7774" y="1954634"/>
            <a:ext cx="1517452" cy="2188741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4170" y="2063130"/>
            <a:ext cx="144661" cy="144661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662613" y="2436986"/>
            <a:ext cx="1247775" cy="595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Learning Delivery → Academic Experience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5662613" y="3096592"/>
            <a:ext cx="1247775" cy="9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of stronger outcomes and teacher stability must accompany pricing shifts.</a:t>
            </a:r>
            <a:endParaRPr lang="en-US" sz="90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2605" y="1954634"/>
            <a:ext cx="1517452" cy="2188741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39001" y="2063130"/>
            <a:ext cx="144661" cy="144661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7287444" y="2436986"/>
            <a:ext cx="1247775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Marketing → Communication</a:t>
            </a:r>
            <a:endParaRPr lang="en-US" sz="1200" dirty="0"/>
          </a:p>
        </p:txBody>
      </p:sp>
      <p:sp>
        <p:nvSpPr>
          <p:cNvPr id="18" name="Text 7"/>
          <p:cNvSpPr/>
          <p:nvPr/>
        </p:nvSpPr>
        <p:spPr>
          <a:xfrm>
            <a:off x="7287444" y="2898204"/>
            <a:ext cx="1247775" cy="729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storytelling maps operational change to parent priorities.</a:t>
            </a:r>
            <a:endParaRPr lang="en-US" sz="900" dirty="0"/>
          </a:p>
        </p:txBody>
      </p:sp>
      <p:sp>
        <p:nvSpPr>
          <p:cNvPr id="19" name="Text 8"/>
          <p:cNvSpPr/>
          <p:nvPr/>
        </p:nvSpPr>
        <p:spPr>
          <a:xfrm>
            <a:off x="3902943" y="4264149"/>
            <a:ext cx="4767114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Example: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Fee increase only succeeds when paired with learning improvements, visible facility upgrades, and steady teachers.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71041"/>
            <a:ext cx="8196114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HLC 3.0 — 6 Months / Nov End (?)  to Move from Current State to Future State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3943" y="970731"/>
            <a:ext cx="8196114" cy="2792164"/>
          </a:xfrm>
          <a:prstGeom prst="roundRect">
            <a:avLst>
              <a:gd name="adj" fmla="val 557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8706" y="975494"/>
            <a:ext cx="8186589" cy="2511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82588" y="1027881"/>
            <a:ext cx="1884759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Month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22227" y="1027881"/>
            <a:ext cx="1882378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Focus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59485" y="1027881"/>
            <a:ext cx="1882378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Deliverable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96744" y="1027881"/>
            <a:ext cx="352209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Owner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8706" y="1226641"/>
            <a:ext cx="8186589" cy="3975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82588" y="1279029"/>
            <a:ext cx="1884759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22227" y="1279029"/>
            <a:ext cx="1882378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59485" y="1279029"/>
            <a:ext cx="1425178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Announce salary increase; staff philosophy workshop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96744" y="1279029"/>
            <a:ext cx="352209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8706" y="1624161"/>
            <a:ext cx="8186589" cy="3975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2588" y="1676549"/>
            <a:ext cx="1884759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22227" y="1676549"/>
            <a:ext cx="1882378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Internal alignment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59485" y="1676549"/>
            <a:ext cx="1425178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All‑staff immersion; communication toolkit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96744" y="1676549"/>
            <a:ext cx="352209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8706" y="2021681"/>
            <a:ext cx="8186589" cy="3975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82588" y="2074069"/>
            <a:ext cx="1884759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22227" y="2074069"/>
            <a:ext cx="1882378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demonstration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59485" y="2074069"/>
            <a:ext cx="1425178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Facility maintenance done; value campaign launched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96744" y="2074069"/>
            <a:ext cx="352209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8706" y="2419201"/>
            <a:ext cx="8186589" cy="3975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82588" y="2471589"/>
            <a:ext cx="1884759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22227" y="2471589"/>
            <a:ext cx="1882378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 engagement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59485" y="2471589"/>
            <a:ext cx="1425178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Town hall; testimonial &amp; referral push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6744" y="2471589"/>
            <a:ext cx="352209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 Council Lead (GC is there but PC?)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8706" y="2816721"/>
            <a:ext cx="8186589" cy="3975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82588" y="2869109"/>
            <a:ext cx="1884759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22227" y="2869109"/>
            <a:ext cx="1882378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Selective transition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59485" y="2869109"/>
            <a:ext cx="1425178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Bottom 5% review; aligned admissions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96744" y="2869109"/>
            <a:ext cx="352209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Academic Head + Admissions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8706" y="3214241"/>
            <a:ext cx="8186589" cy="5438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82588" y="3266629"/>
            <a:ext cx="1884759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22227" y="3266629"/>
            <a:ext cx="1882378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&amp; scale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859485" y="3266629"/>
            <a:ext cx="1425178" cy="439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6‑month assessment; XI–XII wing completion; land decision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96744" y="3266629"/>
            <a:ext cx="352209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3943" y="3852193"/>
            <a:ext cx="8653314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3943" y="4087862"/>
            <a:ext cx="8196114" cy="348928"/>
          </a:xfrm>
          <a:prstGeom prst="roundRect">
            <a:avLst>
              <a:gd name="adj" fmla="val 44569"/>
            </a:avLst>
          </a:prstGeom>
          <a:solidFill>
            <a:srgbClr val="D4E9F7"/>
          </a:solidFill>
          <a:ln/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02" y="4202385"/>
            <a:ext cx="129555" cy="103659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10816" y="4193084"/>
            <a:ext cx="8212782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success factor: each month ends with an "alignment check" — did promised changes show up in family experience?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73943" y="4526087"/>
            <a:ext cx="8653314" cy="146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893</Words>
  <Application>Microsoft Office PowerPoint</Application>
  <PresentationFormat>On-screen Show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Barlow Bold</vt:lpstr>
      <vt:lpstr>Arial</vt:lpstr>
      <vt:lpstr>Montserrat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Ravi Radhakrishnan</cp:lastModifiedBy>
  <cp:revision>3</cp:revision>
  <dcterms:created xsi:type="dcterms:W3CDTF">2026-08-13T04:25:00Z</dcterms:created>
  <dcterms:modified xsi:type="dcterms:W3CDTF">2026-08-13T07:03:34Z</dcterms:modified>
</cp:coreProperties>
</file>